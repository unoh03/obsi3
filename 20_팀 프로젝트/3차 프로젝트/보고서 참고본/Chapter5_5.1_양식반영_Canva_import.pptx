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98c3c9f62d4153" /><Relationship Type="http://schemas.openxmlformats.org/officeDocument/2006/relationships/extended-properties" Target="/docProps/app.xml" Id="Ra834dc86b61b442c" /><Relationship Type="http://schemas.openxmlformats.org/officeDocument/2006/relationships/officeDocument" Target="/ppt/presentation.xml" Id="R2863d4b6e1844ff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3b83c369f1d4bac"/>
  </p:sldMasterIdLst>
  <p:notesMasterIdLst>
    <p:notesMasterId xmlns:r="http://schemas.openxmlformats.org/officeDocument/2006/relationships" r:id="R83ee8de8f56e42a3"/>
  </p:notesMasterIdLst>
  <p:sldIdLst>
    <p:sldId xmlns:r="http://schemas.openxmlformats.org/officeDocument/2006/relationships" id="256" r:id="Rcd82a48bcaf441a5"/>
    <p:sldId xmlns:r="http://schemas.openxmlformats.org/officeDocument/2006/relationships" id="257" r:id="R23ae7d7d33624acc"/>
    <p:sldId xmlns:r="http://schemas.openxmlformats.org/officeDocument/2006/relationships" id="258" r:id="R96e2645872ee4d7d"/>
    <p:sldId xmlns:r="http://schemas.openxmlformats.org/officeDocument/2006/relationships" id="259" r:id="R35d56b25e95f4775"/>
    <p:sldId xmlns:r="http://schemas.openxmlformats.org/officeDocument/2006/relationships" id="260" r:id="R326e2d7982724e4c"/>
    <p:sldId xmlns:r="http://schemas.openxmlformats.org/officeDocument/2006/relationships" id="261" r:id="R0a2a1dd626574047"/>
    <p:sldId xmlns:r="http://schemas.openxmlformats.org/officeDocument/2006/relationships" id="262" r:id="Rddd57a712def46d3"/>
    <p:sldId xmlns:r="http://schemas.openxmlformats.org/officeDocument/2006/relationships" id="263" r:id="R2b6b4014e59545e3"/>
    <p:sldId xmlns:r="http://schemas.openxmlformats.org/officeDocument/2006/relationships" id="264" r:id="R1b76555512324336"/>
    <p:sldId xmlns:r="http://schemas.openxmlformats.org/officeDocument/2006/relationships" id="265" r:id="R8916aecd1b944b48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e8e07cc9f54e64" /><Relationship Type="http://schemas.openxmlformats.org/officeDocument/2006/relationships/slideMaster" Target="/ppt/slideMasters/slideMaster1.xml" Id="Ra3b83c369f1d4bac" /><Relationship Type="http://schemas.openxmlformats.org/officeDocument/2006/relationships/notesMaster" Target="/ppt/notesMasters/notesMaster1.xml" Id="R83ee8de8f56e42a3" /><Relationship Type="http://schemas.openxmlformats.org/officeDocument/2006/relationships/presProps" Target="/ppt/presProps.xml" Id="R29d29ace2c49405b" /><Relationship Type="http://schemas.openxmlformats.org/officeDocument/2006/relationships/tableStyles" Target="/ppt/tableStyles.xml" Id="R89b19d5ad27f481a" /><Relationship Type="http://schemas.openxmlformats.org/officeDocument/2006/relationships/slide" Target="/ppt/slides/slide1.xml" Id="Rcd82a48bcaf441a5" /><Relationship Type="http://schemas.openxmlformats.org/officeDocument/2006/relationships/slide" Target="/ppt/slides/slide2.xml" Id="R23ae7d7d33624acc" /><Relationship Type="http://schemas.openxmlformats.org/officeDocument/2006/relationships/slide" Target="/ppt/slides/slide3.xml" Id="R96e2645872ee4d7d" /><Relationship Type="http://schemas.openxmlformats.org/officeDocument/2006/relationships/slide" Target="/ppt/slides/slide4.xml" Id="R35d56b25e95f4775" /><Relationship Type="http://schemas.openxmlformats.org/officeDocument/2006/relationships/slide" Target="/ppt/slides/slide5.xml" Id="R326e2d7982724e4c" /><Relationship Type="http://schemas.openxmlformats.org/officeDocument/2006/relationships/slide" Target="/ppt/slides/slide6.xml" Id="R0a2a1dd626574047" /><Relationship Type="http://schemas.openxmlformats.org/officeDocument/2006/relationships/slide" Target="/ppt/slides/slide7.xml" Id="Rddd57a712def46d3" /><Relationship Type="http://schemas.openxmlformats.org/officeDocument/2006/relationships/slide" Target="/ppt/slides/slide8.xml" Id="R2b6b4014e59545e3" /><Relationship Type="http://schemas.openxmlformats.org/officeDocument/2006/relationships/slide" Target="/ppt/slides/slide9.xml" Id="R1b76555512324336" /><Relationship Type="http://schemas.openxmlformats.org/officeDocument/2006/relationships/slide" Target="/ppt/slides/slide10.xml" Id="R8916aecd1b944b4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8d3ef03cebb404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01dbbf247514a87" /><Relationship Type="http://schemas.openxmlformats.org/officeDocument/2006/relationships/notesMaster" Target="/ppt/notesMasters/notesMaster1.xml" Id="R597869514f7346a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ba10d1e9cbd4666" /><Relationship Type="http://schemas.openxmlformats.org/officeDocument/2006/relationships/notesMaster" Target="/ppt/notesMasters/notesMaster1.xml" Id="R103be09d1683445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a162d1e4ef4012" /><Relationship Type="http://schemas.openxmlformats.org/officeDocument/2006/relationships/notesMaster" Target="/ppt/notesMasters/notesMaster1.xml" Id="Re1384896f9c043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7ba2dc34db64f38" /><Relationship Type="http://schemas.openxmlformats.org/officeDocument/2006/relationships/notesMaster" Target="/ppt/notesMasters/notesMaster1.xml" Id="R06913009917940c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3555be4b3344ef1" /><Relationship Type="http://schemas.openxmlformats.org/officeDocument/2006/relationships/notesMaster" Target="/ppt/notesMasters/notesMaster1.xml" Id="Rb247f236db70419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32e4903592345bd" /><Relationship Type="http://schemas.openxmlformats.org/officeDocument/2006/relationships/notesMaster" Target="/ppt/notesMasters/notesMaster1.xml" Id="R70c9389938384e0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33767a7a784e6d" /><Relationship Type="http://schemas.openxmlformats.org/officeDocument/2006/relationships/notesMaster" Target="/ppt/notesMasters/notesMaster1.xml" Id="R18c1e7fedb7848a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7f551c5124843a7" /><Relationship Type="http://schemas.openxmlformats.org/officeDocument/2006/relationships/notesMaster" Target="/ppt/notesMasters/notesMaster1.xml" Id="Ra8acd71b43ca459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c4eb5c01417497e" /><Relationship Type="http://schemas.openxmlformats.org/officeDocument/2006/relationships/notesMaster" Target="/ppt/notesMasters/notesMaster1.xml" Id="R6bcbfcdd4923461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b93037236ea4ab7" /><Relationship Type="http://schemas.openxmlformats.org/officeDocument/2006/relationships/notesMaster" Target="/ppt/notesMasters/notesMaster1.xml" Id="R3e5a89ce1b0b4b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Docker Desktop 화면: codex-clipboard-f783c774-61de-4373-a8b0-e2235af3e230.png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프로젝트 내용과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프로젝트 수집 경로와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Wazuh Dashboard 화면: codex-clipboard-37e40f92-daca-4e37-86e8-076564f33336.png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프로젝트 Rule 100110 조건과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프로젝트 Rule 100111 조건과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Matrix Test 결과와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Rule 100110 Runtime 검증 기준과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Rule 100111 Runtime 검증 기준과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사용자 제공 프로젝트 검증 결과와 기존 Canva 5.1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8aee245db7405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974c7a1f1cd4850" /><Relationship Type="http://schemas.openxmlformats.org/officeDocument/2006/relationships/slideLayout" Target="/ppt/slideLayouts/slideLayout1.xml" Id="Rc7eee14512ee46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eee14512ee46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8f350d5eba4505" /><Relationship Type="http://schemas.openxmlformats.org/officeDocument/2006/relationships/image" Target="/ppt/media/image.png" Id="R690813f9f8814725" /><Relationship Type="http://schemas.openxmlformats.org/officeDocument/2006/relationships/notesSlide" Target="/ppt/notesSlides/notesSlide1.xml" Id="R3e7aa41ac2db47c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a6468f942e4ed0" /><Relationship Type="http://schemas.openxmlformats.org/officeDocument/2006/relationships/notesSlide" Target="/ppt/notesSlides/notesSlide2.xml" Id="Rbafd54e543d4403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e848cae0b4072" /><Relationship Type="http://schemas.openxmlformats.org/officeDocument/2006/relationships/notesSlide" Target="/ppt/notesSlides/notesSlide3.xml" Id="R119a289f167743c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862fd659604546" /><Relationship Type="http://schemas.openxmlformats.org/officeDocument/2006/relationships/image" Target="/ppt/media/image2.png" Id="Rfb175f0b9fc042ef" /><Relationship Type="http://schemas.openxmlformats.org/officeDocument/2006/relationships/notesSlide" Target="/ppt/notesSlides/notesSlide4.xml" Id="Rd1ccefce93c54e4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90315f34664876" /><Relationship Type="http://schemas.openxmlformats.org/officeDocument/2006/relationships/notesSlide" Target="/ppt/notesSlides/notesSlide5.xml" Id="R8c0efcd62bbf47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17beea3b3b49aa" /><Relationship Type="http://schemas.openxmlformats.org/officeDocument/2006/relationships/notesSlide" Target="/ppt/notesSlides/notesSlide6.xml" Id="R9d64caa7c92742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aef0702984693" /><Relationship Type="http://schemas.openxmlformats.org/officeDocument/2006/relationships/notesSlide" Target="/ppt/notesSlides/notesSlide7.xml" Id="R4133bcd57b3e474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b6a952b824e22" /><Relationship Type="http://schemas.openxmlformats.org/officeDocument/2006/relationships/notesSlide" Target="/ppt/notesSlides/notesSlide8.xml" Id="R81f82d92ae8a488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3ded46d7f64929" /><Relationship Type="http://schemas.openxmlformats.org/officeDocument/2006/relationships/notesSlide" Target="/ppt/notesSlides/notesSlide9.xml" Id="Rcc9a73090d99436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f09486e2ba473e" /><Relationship Type="http://schemas.openxmlformats.org/officeDocument/2006/relationships/notesSlide" Target="/ppt/notesSlides/notesSlide10.xml" Id="R94833ce8db4e4b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0E285E92-BEE8-47E2-9C7D-8491103A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9E4A66BC-CBAF-4FB5-9CFE-CDCAEA137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87850C9-D133-4A00-B17A-E28FDC6D0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19150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30"/>
                </a:solidFill>
              </a:defRPr>
            </a:pPr>
            <a:r>
              <a:rPr sz="1425" b="1">
                <a:solidFill>
                  <a:srgbClr val="182230"/>
                </a:solidFill>
              </a:rPr>
              <a:t>5.1.1 중앙 관제 구성 목적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DB78C5F4-094A-421F-AE54-D285106B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F5A733A-7694-46EB-9362-99C98E96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191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2EDB05-0D8D-46F2-93C9-DD8C64A7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분산된 보안 Event를 Wazuh 한곳에서 조회하고, 원본 필드와 Custom Rule의 조건 일치 여부를 근거로 Alert 생성 과정을 검증한다.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AF19CF-1DD4-4289-9DB8-027D3CDB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43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분석 목표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C973FF-553A-4575-8F21-CCDB3B95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86050"/>
            <a:ext cx="64198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분산 로그의 중앙 조회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주요 필드 구조화와 사건 식별자 확인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Custom Rule에 의한 Alert 생성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동일 시간창에서 원본 Event와 Alert 대조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A03C9-81BB-44C7-A9DE-1F3D5DEA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86715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F"/>
                </a:solidFill>
              </a:defRPr>
            </a:pPr>
            <a:r>
              <a:rPr sz="900" b="1">
                <a:solidFill>
                  <a:srgbClr val="52606F"/>
                </a:solidFill>
              </a:rPr>
              <a:t>그림 5-1. Wazuh Manager·Indexer·Dashboard 실행 상태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048400-2A69-4631-94E6-E71E4DC4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52900"/>
            <a:ext cx="6457950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0813f9f8814725"/>
          <a:stretch xmlns:a="http://schemas.openxmlformats.org/drawingml/2006/main"/>
        </p:blipFill>
        <p:spPr>
          <a:xfrm xmlns:a="http://schemas.openxmlformats.org/drawingml/2006/main">
            <a:off x="571830" y="4171950"/>
            <a:ext cx="6419189" cy="3638550"/>
          </a:xfrm>
          <a:prstGeom xmlns:a="http://schemas.openxmlformats.org/drawingml/2006/main" prst="rect">
            <a:avLst/>
          </a:prstGeom>
        </p:spPr>
      </p:pic>
      <p:sp>
        <p:nvSpPr>
          <p:cNvPr id="12" name="summary">
            <a:extLst xmlns:a="http://schemas.openxmlformats.org/drawingml/2006/main">
              <a:ext uri="{FF2B5EF4-FFF2-40B4-BE49-F238E27FC236}">
                <a16:creationId xmlns:a16="http://schemas.microsoft.com/office/drawing/2014/main" id="{D5F75503-A25F-484C-A6EE-5E86643D8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77200"/>
            <a:ext cx="6419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운영 상태 판정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Manager · Indexer · Dashboard가 모두 실행 중이며, 수집·분석·시각화 구성요소가 준비된 상태를 확인하였다.</a:t>
            </a:r>
          </a:p>
        </p:txBody>
      </p:sp>
    </p:spTree>
    <p:extLst>
      <p:ext uri="{BB962C8B-B14F-4D97-AF65-F5344CB8AC3E}">
        <p14:creationId xmlns:p14="http://schemas.microsoft.com/office/powerpoint/2010/main" val="205885669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3525EA29-06E0-44E9-AF51-149E5C168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B865E29F-AA68-4B99-8668-23CEC81F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74E63F2-0BAA-4FD6-AEE8-A6BFB7FCE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19150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30"/>
                </a:solidFill>
              </a:defRPr>
            </a:pPr>
            <a:r>
              <a:rPr sz="1425" b="1">
                <a:solidFill>
                  <a:srgbClr val="182230"/>
                </a:solidFill>
              </a:rPr>
              <a:t>5.1.2 Wazuh 중앙 구성요소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BC3F0F2B-5ED5-4A4E-BC59-EA592CA42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063975-C69B-4608-BADF-58519ED2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191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CCE007-8A0F-4FA0-B491-9D9D26A5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중앙 SIEM은 수집·분석·검색·시각화 역할을 세 구성요소로 분리한다.</a:t>
            </a:r>
          </a:p>
        </p:txBody>
      </p:sp>
      <p:sp>
        <p:nvSpPr>
          <p:cNvPr id="7" name="role-header-1">
            <a:extLst xmlns:a="http://schemas.openxmlformats.org/drawingml/2006/main">
              <a:ext uri="{FF2B5EF4-FFF2-40B4-BE49-F238E27FC236}">
                <a16:creationId xmlns:a16="http://schemas.microsoft.com/office/drawing/2014/main" id="{C578F34D-AE43-4BA7-9DED-C6DD7DF5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619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230"/>
                </a:solidFill>
              </a:defRPr>
            </a:pPr>
            <a:r>
              <a:rPr sz="1050" b="1">
                <a:solidFill>
                  <a:srgbClr val="182230"/>
                </a:solidFill>
              </a:rPr>
              <a:t>구성요소</a:t>
            </a:r>
          </a:p>
        </p:txBody>
      </p:sp>
      <p:sp>
        <p:nvSpPr>
          <p:cNvPr id="8" name="role-header-2">
            <a:extLst xmlns:a="http://schemas.openxmlformats.org/drawingml/2006/main">
              <a:ext uri="{FF2B5EF4-FFF2-40B4-BE49-F238E27FC236}">
                <a16:creationId xmlns:a16="http://schemas.microsoft.com/office/drawing/2014/main" id="{70441F5A-EAC7-44C2-A430-7B20C5041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90750"/>
            <a:ext cx="48006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230"/>
                </a:solidFill>
              </a:defRPr>
            </a:pPr>
            <a:r>
              <a:rPr sz="1050" b="1">
                <a:solidFill>
                  <a:srgbClr val="182230"/>
                </a:solidFill>
              </a:rPr>
              <a:t>담당 역할</a:t>
            </a:r>
          </a:p>
        </p:txBody>
      </p:sp>
      <p:sp>
        <p:nvSpPr>
          <p:cNvPr id="9" name="role-label-0">
            <a:extLst xmlns:a="http://schemas.openxmlformats.org/drawingml/2006/main">
              <a:ext uri="{FF2B5EF4-FFF2-40B4-BE49-F238E27FC236}">
                <a16:creationId xmlns:a16="http://schemas.microsoft.com/office/drawing/2014/main" id="{2AB176C7-9EF9-47DA-A626-A2E9CEBA8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241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230"/>
                </a:solidFill>
              </a:defRPr>
            </a:pPr>
            <a:r>
              <a:rPr sz="1050" b="1">
                <a:solidFill>
                  <a:srgbClr val="182230"/>
                </a:solidFill>
              </a:rPr>
              <a:t>Wazuh Manager</a:t>
            </a:r>
          </a:p>
        </p:txBody>
      </p:sp>
      <p:sp>
        <p:nvSpPr>
          <p:cNvPr id="10" name="role-desc-0">
            <a:extLst xmlns:a="http://schemas.openxmlformats.org/drawingml/2006/main">
              <a:ext uri="{FF2B5EF4-FFF2-40B4-BE49-F238E27FC236}">
                <a16:creationId xmlns:a16="http://schemas.microsoft.com/office/drawing/2014/main" id="{801024E1-7E4D-4BF2-97F1-A92B5396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724150"/>
            <a:ext cx="4800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원본 Event를 구조화하고 Custom Rule 조건을 평가하여 Alert를 생성한다.</a:t>
            </a:r>
          </a:p>
        </p:txBody>
      </p:sp>
      <p:sp>
        <p:nvSpPr>
          <p:cNvPr id="11" name="role-label-1">
            <a:extLst xmlns:a="http://schemas.openxmlformats.org/drawingml/2006/main">
              <a:ext uri="{FF2B5EF4-FFF2-40B4-BE49-F238E27FC236}">
                <a16:creationId xmlns:a16="http://schemas.microsoft.com/office/drawing/2014/main" id="{54CB7D6E-6F3C-4988-B4F4-A7BCD491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385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230"/>
                </a:solidFill>
              </a:defRPr>
            </a:pPr>
            <a:r>
              <a:rPr sz="1050" b="1">
                <a:solidFill>
                  <a:srgbClr val="182230"/>
                </a:solidFill>
              </a:rPr>
              <a:t>Wazuh Indexer</a:t>
            </a:r>
          </a:p>
        </p:txBody>
      </p:sp>
      <p:sp>
        <p:nvSpPr>
          <p:cNvPr id="12" name="role-desc-1">
            <a:extLst xmlns:a="http://schemas.openxmlformats.org/drawingml/2006/main">
              <a:ext uri="{FF2B5EF4-FFF2-40B4-BE49-F238E27FC236}">
                <a16:creationId xmlns:a16="http://schemas.microsoft.com/office/drawing/2014/main" id="{783CD339-0A28-4892-9DFC-501218538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638550"/>
            <a:ext cx="4800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원본 Event와 Alert를 색인하여 시간·Rule·Source별 검색을 제공한다.</a:t>
            </a:r>
          </a:p>
        </p:txBody>
      </p:sp>
      <p:sp>
        <p:nvSpPr>
          <p:cNvPr id="13" name="role-label-2">
            <a:extLst xmlns:a="http://schemas.openxmlformats.org/drawingml/2006/main">
              <a:ext uri="{FF2B5EF4-FFF2-40B4-BE49-F238E27FC236}">
                <a16:creationId xmlns:a16="http://schemas.microsoft.com/office/drawing/2014/main" id="{A2451D72-34AB-43E1-A6B6-921AAF6C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52950"/>
            <a:ext cx="1619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230"/>
                </a:solidFill>
              </a:defRPr>
            </a:pPr>
            <a:r>
              <a:rPr sz="1050" b="1">
                <a:solidFill>
                  <a:srgbClr val="182230"/>
                </a:solidFill>
              </a:rPr>
              <a:t>Wazuh Dashboard</a:t>
            </a:r>
          </a:p>
        </p:txBody>
      </p:sp>
      <p:sp>
        <p:nvSpPr>
          <p:cNvPr id="14" name="role-desc-2">
            <a:extLst xmlns:a="http://schemas.openxmlformats.org/drawingml/2006/main">
              <a:ext uri="{FF2B5EF4-FFF2-40B4-BE49-F238E27FC236}">
                <a16:creationId xmlns:a16="http://schemas.microsoft.com/office/drawing/2014/main" id="{4FB8B996-3A9E-429B-AD8E-D6F83C31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552950"/>
            <a:ext cx="48006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Metric·Timeline·상세 표로 탐지 여부와 근거 필드를 시각화한다.</a:t>
            </a:r>
          </a:p>
        </p:txBody>
      </p:sp>
      <p:sp>
        <p:nvSpPr>
          <p:cNvPr id="15" name="summary">
            <a:extLst xmlns:a="http://schemas.openxmlformats.org/drawingml/2006/main">
              <a:ext uri="{FF2B5EF4-FFF2-40B4-BE49-F238E27FC236}">
                <a16:creationId xmlns:a16="http://schemas.microsoft.com/office/drawing/2014/main" id="{9FF4CFF1-160B-49D9-A4A0-F3044709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91250"/>
            <a:ext cx="64198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프로젝트 적용 범위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DVWA 감사 Event와 CloudTrail S3 Data Event를 중앙에서 조회하고, Rule 100110·100111의 탐지 근거를 확인한다.</a:t>
            </a:r>
          </a:p>
        </p:txBody>
      </p:sp>
    </p:spTree>
    <p:extLst>
      <p:ext uri="{BB962C8B-B14F-4D97-AF65-F5344CB8AC3E}">
        <p14:creationId xmlns:p14="http://schemas.microsoft.com/office/powerpoint/2010/main" val="1869499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BA7617D3-D548-495A-9516-396E9D7C4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B87B5E01-61FF-42F6-8FF9-C4BFBCF0C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42F9314-77A4-471C-94E6-342CAA6EC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19150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30"/>
                </a:solidFill>
              </a:defRPr>
            </a:pPr>
            <a:r>
              <a:rPr sz="1425" b="1">
                <a:solidFill>
                  <a:srgbClr val="182230"/>
                </a:solidFill>
              </a:rPr>
              <a:t>5.1.3 로그 수집 경로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2B53EEB-3E80-402C-977F-B2A9A0F7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7B15F8C-9A6F-4866-8C7A-F397B12A6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191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1A7DF-5031-4C4D-AF86-45F77B25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Source별 전달 방식과 도착 주기가 다르므로 조기 신호와 확정 근거를 구분한다.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645C8D-E5CC-446B-8F52-D74D0B85C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DVWA 저지연 Event</a:t>
            </a:r>
          </a:p>
        </p:txBody>
      </p:sp>
      <p:sp>
        <p:nvSpPr>
          <p:cNvPr id="8" name="dvwa-path">
            <a:extLst xmlns:a="http://schemas.openxmlformats.org/drawingml/2006/main">
              <a:ext uri="{FF2B5EF4-FFF2-40B4-BE49-F238E27FC236}">
                <a16:creationId xmlns:a16="http://schemas.microsoft.com/office/drawing/2014/main" id="{D8D623C1-9316-4E96-A4DF-700D2A50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641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CloudWatch Logs  →  Subscription  →  Lambda  →  SQS  →  Local Bridge  →  Wazuh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48A8D8-81B4-4497-9291-C452549AD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CloudTrail S3 Data Event</a:t>
            </a:r>
          </a:p>
        </p:txBody>
      </p:sp>
      <p:sp>
        <p:nvSpPr>
          <p:cNvPr id="10" name="cloudtrail-path">
            <a:extLst xmlns:a="http://schemas.openxmlformats.org/drawingml/2006/main">
              <a:ext uri="{FF2B5EF4-FFF2-40B4-BE49-F238E27FC236}">
                <a16:creationId xmlns:a16="http://schemas.microsoft.com/office/drawing/2014/main" id="{AC958E23-62C8-47DC-8E12-28AC92B4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05300"/>
            <a:ext cx="64198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CloudTrail  →  Wazuh AWS Module의 10분 예약 수집  →  Wazuh</a:t>
            </a:r>
          </a:p>
        </p:txBody>
      </p:sp>
      <p:sp>
        <p:nvSpPr>
          <p:cNvPr id="11" name="collection-interpretation">
            <a:extLst xmlns:a="http://schemas.openxmlformats.org/drawingml/2006/main">
              <a:ext uri="{FF2B5EF4-FFF2-40B4-BE49-F238E27FC236}">
                <a16:creationId xmlns:a16="http://schemas.microsoft.com/office/drawing/2014/main" id="{825C7D12-D7CF-4C33-9E0B-EC31D3407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772150"/>
            <a:ext cx="641985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운영 해석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DVWA Event는 IMDS Credential 접근의 조기 신호로 사용한다.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CloudTrail Event는 고정 검증용 S3 Object에서 실제 Byte가 반환됐는지 확인하는 근거로 사용한다.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677BB-E76E-4C14-88BB-A2AAB42B0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791450"/>
            <a:ext cx="6419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D2B4F"/>
                </a:solidFill>
              </a:defRPr>
            </a:pPr>
            <a:r>
              <a:rPr sz="1125" b="1">
                <a:solidFill>
                  <a:srgbClr val="0D2B4F"/>
                </a:solidFill>
              </a:rPr>
              <a:t>두 Source를 하나의 Wazuh Dashboard에서 같은 시간창으로 연결해 조사한다.</a:t>
            </a:r>
          </a:p>
        </p:txBody>
      </p:sp>
    </p:spTree>
    <p:extLst>
      <p:ext uri="{BB962C8B-B14F-4D97-AF65-F5344CB8AC3E}">
        <p14:creationId xmlns:p14="http://schemas.microsoft.com/office/powerpoint/2010/main" val="165548004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303FD99C-2329-45A2-975E-FC28894A2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E17E2B57-B860-49CB-821E-E9ACBDD12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B90B0F6-1D7C-4B8E-95BD-F7C60D034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19150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30"/>
                </a:solidFill>
              </a:defRPr>
            </a:pPr>
            <a:r>
              <a:rPr sz="1425" b="1">
                <a:solidFill>
                  <a:srgbClr val="182230"/>
                </a:solidFill>
              </a:rPr>
              <a:t>5.1.4 중앙 관제 Dashboard와 Alert 현황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25A18D0-FFF3-4430-B25C-4E8D34665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52D656-C457-4A5B-9A76-C1E600E1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191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AAB0FE-622C-4AFE-9F2B-98ECB74C4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상단 Count로 탐지 여부를 확인하고, 하단 원본 필드에서 Rule 조건과 일치한 근거를 대조한다.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F4E9EF-C773-47FE-BA8A-57A4681C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6419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2606F"/>
                </a:solidFill>
              </a:defRPr>
            </a:pPr>
            <a:r>
              <a:rPr sz="900" b="1">
                <a:solidFill>
                  <a:srgbClr val="52606F"/>
                </a:solidFill>
              </a:rPr>
              <a:t>그림 5-2. Capital One SOC Dashboard의 Rule 100110·100111 탐지 현황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787C7B-1290-4785-86BD-77699A2C7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6457950" cy="3562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175f0b9fc042ef"/>
          <a:stretch xmlns:a="http://schemas.openxmlformats.org/drawingml/2006/main"/>
        </p:blipFill>
        <p:spPr>
          <a:xfrm xmlns:a="http://schemas.openxmlformats.org/drawingml/2006/main">
            <a:off x="571500" y="2497232"/>
            <a:ext cx="6419850" cy="3520886"/>
          </a:xfrm>
          <a:prstGeom xmlns:a="http://schemas.openxmlformats.org/drawingml/2006/main" prst="rect">
            <a:avLst/>
          </a:prstGeom>
        </p:spPr>
      </p:pic>
      <p:sp>
        <p:nvSpPr>
          <p:cNvPr id="10" name="summary">
            <a:extLst xmlns:a="http://schemas.openxmlformats.org/drawingml/2006/main">
              <a:ext uri="{FF2B5EF4-FFF2-40B4-BE49-F238E27FC236}">
                <a16:creationId xmlns:a16="http://schemas.microsoft.com/office/drawing/2014/main" id="{3EF45FAD-9D4C-49E5-8892-30384641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19850"/>
            <a:ext cx="641985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화면 판정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Rule 100102 수집 상태 = 0건  |  Rule 100110 조기탐지 = 1건  |  Rule 100111 침해확정 = 1건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동일 시간창에서 Count → 원본 필드 → Rule 조건을 순서대로 확인한다.</a:t>
            </a:r>
          </a:p>
        </p:txBody>
      </p:sp>
      <p:sp>
        <p:nvSpPr>
          <p:cNvPr id="11" name="dashboard-caution">
            <a:extLst xmlns:a="http://schemas.openxmlformats.org/drawingml/2006/main">
              <a:ext uri="{FF2B5EF4-FFF2-40B4-BE49-F238E27FC236}">
                <a16:creationId xmlns:a16="http://schemas.microsoft.com/office/drawing/2014/main" id="{82DE0AAD-A4E7-41CC-9E34-BBE01242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77200"/>
            <a:ext cx="64198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주의: Dashboard의 동시 표시는 자동 인과관계를 의미하지 않는다. 사건 식별자와 시간, 주체, 대상 Object를 관제자가 직접 비교한다.</a:t>
            </a:r>
          </a:p>
        </p:txBody>
      </p:sp>
    </p:spTree>
    <p:extLst>
      <p:ext uri="{BB962C8B-B14F-4D97-AF65-F5344CB8AC3E}">
        <p14:creationId xmlns:p14="http://schemas.microsoft.com/office/powerpoint/2010/main" val="35400657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7ECA0657-EF1D-49BF-8FCC-6D1CD6D83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CD3C6FF7-BCE3-4582-8D34-FBC8488F0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789D41D4-051D-47CD-B051-9963FFFA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19150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30"/>
                </a:solidFill>
              </a:defRPr>
            </a:pPr>
            <a:r>
              <a:rPr sz="1425" b="1">
                <a:solidFill>
                  <a:srgbClr val="182230"/>
                </a:solidFill>
              </a:rPr>
              <a:t>5.1.5 Rule 100110 — IMDS Credential 접근 조기탐지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0CA7A06-6B5B-4FC2-BB0C-DC13B2900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00C832-4FB1-4B65-96DE-8F431052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191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E22A5-DEA6-4672-92CA-8390586E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DVWA 명령 실행에서 IMDS Credential endpoint의 실제 출력이 반환된 경우만 Alert를 생성한다.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01C32-9278-4EDD-8E62-7F2326A51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핵심 조건</a:t>
            </a:r>
          </a:p>
        </p:txBody>
      </p:sp>
      <p:sp>
        <p:nvSpPr>
          <p:cNvPr id="8" name="rule-100110-conditions">
            <a:extLst xmlns:a="http://schemas.openxmlformats.org/drawingml/2006/main">
              <a:ext uri="{FF2B5EF4-FFF2-40B4-BE49-F238E27FC236}">
                <a16:creationId xmlns:a16="http://schemas.microsoft.com/office/drawing/2014/main" id="{2877DEF1-D668-4E78-98BB-770E26B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3905250" cy="400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source = dvwa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transport = push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event_type = command.execution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route = /vulnerabilities/exec/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resource = ec2_imds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security_level = low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stage = imds_credential_fetch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status = output_returned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result = succeeded</a:t>
            </a:r>
          </a:p>
        </p:txBody>
      </p:sp>
      <p:sp>
        <p:nvSpPr>
          <p:cNvPr id="9" name="rule-100110-result">
            <a:extLst xmlns:a="http://schemas.openxmlformats.org/drawingml/2006/main">
              <a:ext uri="{FF2B5EF4-FFF2-40B4-BE49-F238E27FC236}">
                <a16:creationId xmlns:a16="http://schemas.microsoft.com/office/drawing/2014/main" id="{6C4C0B3A-53EC-43A7-9091-E77F9DF1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2228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9050">
            <a:solidFill>
              <a:srgbClr val="316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2B4F"/>
                </a:solidFill>
              </a:defRPr>
            </a:pPr>
            <a:r>
              <a:rPr sz="1650" b="1">
                <a:solidFill>
                  <a:srgbClr val="0D2B4F"/>
                </a:solidFill>
              </a:rPr>
              <a:t>판정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0D2B4F"/>
                </a:solidFill>
              </a:defRPr>
            </a:pPr>
            <a:r>
              <a:rPr sz="1650" b="1">
                <a:solidFill>
                  <a:srgbClr val="0D2B4F"/>
                </a:solidFill>
              </a:rPr>
              <a:t>LEVEL 12</a:t>
            </a:r>
          </a:p>
          <a:p xmlns:a="http://schemas.openxmlformats.org/drawingml/2006/main">
            <a:pPr algn="ctr">
              <a:defRPr sz="1650" b="1">
                <a:solidFill>
                  <a:srgbClr val="0D2B4F"/>
                </a:solidFill>
              </a:defRPr>
            </a:pPr>
            <a:r>
              <a:rPr sz="1650" b="1">
                <a:solidFill>
                  <a:srgbClr val="0D2B4F"/>
                </a:solidFill>
              </a:rPr>
              <a:t>ALERT</a:t>
            </a:r>
          </a:p>
        </p:txBody>
      </p:sp>
      <p:sp>
        <p:nvSpPr>
          <p:cNvPr id="10" name="rule-100110-limit">
            <a:extLst xmlns:a="http://schemas.openxmlformats.org/drawingml/2006/main">
              <a:ext uri="{FF2B5EF4-FFF2-40B4-BE49-F238E27FC236}">
                <a16:creationId xmlns:a16="http://schemas.microsoft.com/office/drawing/2014/main" id="{3540119D-D079-43CE-9BC2-F921D7E3A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2228850" cy="198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해석 한계</a:t>
            </a:r>
          </a:p>
          <a:p xmlns:a="http://schemas.openxmlformats.org/drawingml/2006/main">
            <a:pPr algn="l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Credential 원문 탈취나 S3 접근 성공을 직접 증명하지 않는다. 조사가 필요한 고위험 Credential 접근 단계를 알리는 조기경보다.</a:t>
            </a:r>
          </a:p>
        </p:txBody>
      </p:sp>
      <p:sp>
        <p:nvSpPr>
          <p:cNvPr id="11" name="summary">
            <a:extLst xmlns:a="http://schemas.openxmlformats.org/drawingml/2006/main">
              <a:ext uri="{FF2B5EF4-FFF2-40B4-BE49-F238E27FC236}">
                <a16:creationId xmlns:a16="http://schemas.microsoft.com/office/drawing/2014/main" id="{6FB03DBE-ED4A-44EC-BEE5-5800458B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124700"/>
            <a:ext cx="6419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Rule 100110 판정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IMDS Credential endpoint의 출력 반환 Event만 Level 12 Alert로 탐지한다.</a:t>
            </a:r>
          </a:p>
        </p:txBody>
      </p:sp>
    </p:spTree>
    <p:extLst>
      <p:ext uri="{BB962C8B-B14F-4D97-AF65-F5344CB8AC3E}">
        <p14:creationId xmlns:p14="http://schemas.microsoft.com/office/powerpoint/2010/main" val="16685524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F785271E-AD2E-4BF5-BB45-67E47B8B4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B73A5782-8803-4058-B546-3D95487E8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255DF0E3-21C3-444B-B865-9D56B7B09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19150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30"/>
                </a:solidFill>
              </a:defRPr>
            </a:pPr>
            <a:r>
              <a:rPr sz="1425" b="1">
                <a:solidFill>
                  <a:srgbClr val="182230"/>
                </a:solidFill>
              </a:rPr>
              <a:t>5.1.6 Rule 100111 — 보호 S3 객체 접근 확인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8095DE54-41D4-4CB7-8C9B-F0A53DFBE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3CB93D-8989-4973-83DA-2A22E5D2D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191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1D5E4B-9677-4261-85BC-CE4AEB03D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CloudTrail S3 Data Event에서 승인 조건이 모두 일치하고 객체 Byte가 실제 반환된 경우만 Alert를 생성한다.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B50584-C790-474A-8D37-BA62E9E74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핵심 조건</a:t>
            </a:r>
          </a:p>
        </p:txBody>
      </p:sp>
      <p:sp>
        <p:nvSpPr>
          <p:cNvPr id="8" name="rule-100111-conditions">
            <a:extLst xmlns:a="http://schemas.openxmlformats.org/drawingml/2006/main">
              <a:ext uri="{FF2B5EF4-FFF2-40B4-BE49-F238E27FC236}">
                <a16:creationId xmlns:a16="http://schemas.microsoft.com/office/drawing/2014/main" id="{FB7ABB54-C0BD-42B0-AFF1-84BAF172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09850"/>
            <a:ext cx="3905250" cy="371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eventSource = s3.amazonaws.com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eventName = GetObject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eventCategory = Data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승인된 Account · Region · AssumedRole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고정 검증용 Bucket · Object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httpStatusCode = 200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bytesTransferredOut &gt; 0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유효한 CloudTrail eventID</a:t>
            </a:r>
          </a:p>
        </p:txBody>
      </p:sp>
      <p:sp>
        <p:nvSpPr>
          <p:cNvPr id="9" name="rule-100111-result">
            <a:extLst xmlns:a="http://schemas.openxmlformats.org/drawingml/2006/main">
              <a:ext uri="{FF2B5EF4-FFF2-40B4-BE49-F238E27FC236}">
                <a16:creationId xmlns:a16="http://schemas.microsoft.com/office/drawing/2014/main" id="{84AC43CE-09FE-4421-A8BF-BFFEDE53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09850"/>
            <a:ext cx="2228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19050">
            <a:solidFill>
              <a:srgbClr val="316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2B4F"/>
                </a:solidFill>
              </a:defRPr>
            </a:pPr>
            <a:r>
              <a:rPr sz="1650" b="1">
                <a:solidFill>
                  <a:srgbClr val="0D2B4F"/>
                </a:solidFill>
              </a:rPr>
              <a:t>판정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650" b="1">
                <a:solidFill>
                  <a:srgbClr val="0D2B4F"/>
                </a:solidFill>
              </a:defRPr>
            </a:pPr>
            <a:r>
              <a:rPr sz="1650" b="1">
                <a:solidFill>
                  <a:srgbClr val="0D2B4F"/>
                </a:solidFill>
              </a:rPr>
              <a:t>LEVEL 14</a:t>
            </a:r>
          </a:p>
          <a:p xmlns:a="http://schemas.openxmlformats.org/drawingml/2006/main">
            <a:pPr algn="ctr">
              <a:defRPr sz="1650" b="1">
                <a:solidFill>
                  <a:srgbClr val="0D2B4F"/>
                </a:solidFill>
              </a:defRPr>
            </a:pPr>
            <a:r>
              <a:rPr sz="1650" b="1">
                <a:solidFill>
                  <a:srgbClr val="0D2B4F"/>
                </a:solidFill>
              </a:rPr>
              <a:t>ALERT</a:t>
            </a:r>
          </a:p>
        </p:txBody>
      </p:sp>
      <p:sp>
        <p:nvSpPr>
          <p:cNvPr id="10" name="rule-100111-limit">
            <a:extLst xmlns:a="http://schemas.openxmlformats.org/drawingml/2006/main">
              <a:ext uri="{FF2B5EF4-FFF2-40B4-BE49-F238E27FC236}">
                <a16:creationId xmlns:a16="http://schemas.microsoft.com/office/drawing/2014/main" id="{7F0B0420-313B-42CB-8B61-5634F663A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29150"/>
            <a:ext cx="2228850" cy="1695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해석 한계</a:t>
            </a:r>
          </a:p>
          <a:p xmlns:a="http://schemas.openxmlformats.org/drawingml/2006/main">
            <a:pPr algn="l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고정 검증용 객체의 실제 Byte 반환을 증명한다. S3 전체 유출이나 Rule 100110과의 자동 인과관계까지 증명하지는 않는다.</a:t>
            </a:r>
          </a:p>
        </p:txBody>
      </p:sp>
      <p:sp>
        <p:nvSpPr>
          <p:cNvPr id="11" name="summary">
            <a:extLst xmlns:a="http://schemas.openxmlformats.org/drawingml/2006/main">
              <a:ext uri="{FF2B5EF4-FFF2-40B4-BE49-F238E27FC236}">
                <a16:creationId xmlns:a16="http://schemas.microsoft.com/office/drawing/2014/main" id="{CACF2C1F-C2D2-41CB-A62B-811CB8115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896100"/>
            <a:ext cx="6419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Rule 100111 판정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고정 S3 Object의 실제 Byte 반환 Event만 Level 14 Alert로 탐지한다.</a:t>
            </a:r>
          </a:p>
        </p:txBody>
      </p:sp>
    </p:spTree>
    <p:extLst>
      <p:ext uri="{BB962C8B-B14F-4D97-AF65-F5344CB8AC3E}">
        <p14:creationId xmlns:p14="http://schemas.microsoft.com/office/powerpoint/2010/main" val="6060576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E07F90F2-DBD3-456D-B770-FE12049B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6EC00146-469A-428E-9354-B7A9B125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4C47C37E-9D20-45D8-8DE3-519A10847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19150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30"/>
                </a:solidFill>
              </a:defRPr>
            </a:pPr>
            <a:r>
              <a:rPr sz="1425" b="1">
                <a:solidFill>
                  <a:srgbClr val="182230"/>
                </a:solidFill>
              </a:rPr>
              <a:t>5.1.7 Positive·Negative Rule 검증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9562BD59-A015-4976-8A81-9BD19DA9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1AE14A-3BF8-4B2A-8558-644B157C5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191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5CF48A-76E3-4787-AC4E-406F3D37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정상 입력만 탐지하고 조건 불일치 입력은 제외되는지 Matrix Test로 확인한다.</a:t>
            </a:r>
          </a:p>
        </p:txBody>
      </p:sp>
      <p:sp>
        <p:nvSpPr>
          <p:cNvPr id="7" name="matrix-0-0">
            <a:extLst xmlns:a="http://schemas.openxmlformats.org/drawingml/2006/main">
              <a:ext uri="{FF2B5EF4-FFF2-40B4-BE49-F238E27FC236}">
                <a16:creationId xmlns:a16="http://schemas.microsoft.com/office/drawing/2014/main" id="{4EE2AAC8-9A77-4543-B34F-AC2D8ABB1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230"/>
                </a:solidFill>
              </a:defRPr>
            </a:pPr>
            <a:r>
              <a:rPr sz="975" b="1">
                <a:solidFill>
                  <a:srgbClr val="182230"/>
                </a:solidFill>
              </a:rPr>
              <a:t>Rule</a:t>
            </a:r>
          </a:p>
        </p:txBody>
      </p:sp>
      <p:sp>
        <p:nvSpPr>
          <p:cNvPr id="8" name="matrix-0-1">
            <a:extLst xmlns:a="http://schemas.openxmlformats.org/drawingml/2006/main">
              <a:ext uri="{FF2B5EF4-FFF2-40B4-BE49-F238E27FC236}">
                <a16:creationId xmlns:a16="http://schemas.microsoft.com/office/drawing/2014/main" id="{5D1BA1C6-220A-44C7-A0D6-70DFC7F71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2098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230"/>
                </a:solidFill>
              </a:defRPr>
            </a:pPr>
            <a:r>
              <a:rPr sz="975" b="1">
                <a:solidFill>
                  <a:srgbClr val="182230"/>
                </a:solidFill>
              </a:rPr>
              <a:t>Positive</a:t>
            </a:r>
          </a:p>
        </p:txBody>
      </p:sp>
      <p:sp>
        <p:nvSpPr>
          <p:cNvPr id="9" name="matrix-0-2">
            <a:extLst xmlns:a="http://schemas.openxmlformats.org/drawingml/2006/main">
              <a:ext uri="{FF2B5EF4-FFF2-40B4-BE49-F238E27FC236}">
                <a16:creationId xmlns:a16="http://schemas.microsoft.com/office/drawing/2014/main" id="{6261B889-F6E0-4FFB-8DA3-F3B8FCB9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2098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230"/>
                </a:solidFill>
              </a:defRPr>
            </a:pPr>
            <a:r>
              <a:rPr sz="975" b="1">
                <a:solidFill>
                  <a:srgbClr val="182230"/>
                </a:solidFill>
              </a:rPr>
              <a:t>Negative</a:t>
            </a:r>
          </a:p>
        </p:txBody>
      </p:sp>
      <p:sp>
        <p:nvSpPr>
          <p:cNvPr id="10" name="matrix-0-3">
            <a:extLst xmlns:a="http://schemas.openxmlformats.org/drawingml/2006/main">
              <a:ext uri="{FF2B5EF4-FFF2-40B4-BE49-F238E27FC236}">
                <a16:creationId xmlns:a16="http://schemas.microsoft.com/office/drawing/2014/main" id="{D4AAA018-915B-4642-81B3-2DB160F0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2098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230"/>
                </a:solidFill>
              </a:defRPr>
            </a:pPr>
            <a:r>
              <a:rPr sz="975" b="1">
                <a:solidFill>
                  <a:srgbClr val="182230"/>
                </a:solidFill>
              </a:rPr>
              <a:t>Duplicate</a:t>
            </a:r>
          </a:p>
        </p:txBody>
      </p:sp>
      <p:sp>
        <p:nvSpPr>
          <p:cNvPr id="11" name="matrix-1-0">
            <a:extLst xmlns:a="http://schemas.openxmlformats.org/drawingml/2006/main">
              <a:ext uri="{FF2B5EF4-FFF2-40B4-BE49-F238E27FC236}">
                <a16:creationId xmlns:a16="http://schemas.microsoft.com/office/drawing/2014/main" id="{E5079564-21AC-436C-A306-09C96C8E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80035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100110</a:t>
            </a:r>
          </a:p>
        </p:txBody>
      </p:sp>
      <p:sp>
        <p:nvSpPr>
          <p:cNvPr id="12" name="matrix-1-1">
            <a:extLst xmlns:a="http://schemas.openxmlformats.org/drawingml/2006/main">
              <a:ext uri="{FF2B5EF4-FFF2-40B4-BE49-F238E27FC236}">
                <a16:creationId xmlns:a16="http://schemas.microsoft.com/office/drawing/2014/main" id="{633BF282-D775-4207-AF1A-158CF3237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8003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1건 탐지</a:t>
            </a:r>
          </a:p>
        </p:txBody>
      </p:sp>
      <p:sp>
        <p:nvSpPr>
          <p:cNvPr id="13" name="matrix-1-2">
            <a:extLst xmlns:a="http://schemas.openxmlformats.org/drawingml/2006/main">
              <a:ext uri="{FF2B5EF4-FFF2-40B4-BE49-F238E27FC236}">
                <a16:creationId xmlns:a16="http://schemas.microsoft.com/office/drawing/2014/main" id="{CB4076CE-DC2A-4C75-A0C2-B05DBF4DA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80035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8건 미탐지</a:t>
            </a:r>
          </a:p>
        </p:txBody>
      </p:sp>
      <p:sp>
        <p:nvSpPr>
          <p:cNvPr id="14" name="matrix-1-3">
            <a:extLst xmlns:a="http://schemas.openxmlformats.org/drawingml/2006/main">
              <a:ext uri="{FF2B5EF4-FFF2-40B4-BE49-F238E27FC236}">
                <a16:creationId xmlns:a16="http://schemas.microsoft.com/office/drawing/2014/main" id="{2AA2A71F-2171-4900-ADE3-EC7562A28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80035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0건</a:t>
            </a:r>
          </a:p>
        </p:txBody>
      </p:sp>
      <p:sp>
        <p:nvSpPr>
          <p:cNvPr id="15" name="matrix-2-0">
            <a:extLst xmlns:a="http://schemas.openxmlformats.org/drawingml/2006/main">
              <a:ext uri="{FF2B5EF4-FFF2-40B4-BE49-F238E27FC236}">
                <a16:creationId xmlns:a16="http://schemas.microsoft.com/office/drawing/2014/main" id="{1306E70E-36FC-4C8E-BA99-04FF25778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90900"/>
            <a:ext cx="14668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100111</a:t>
            </a:r>
          </a:p>
        </p:txBody>
      </p:sp>
      <p:sp>
        <p:nvSpPr>
          <p:cNvPr id="16" name="matrix-2-1">
            <a:extLst xmlns:a="http://schemas.openxmlformats.org/drawingml/2006/main">
              <a:ext uri="{FF2B5EF4-FFF2-40B4-BE49-F238E27FC236}">
                <a16:creationId xmlns:a16="http://schemas.microsoft.com/office/drawing/2014/main" id="{52F9C83E-2B9F-4D2F-B85E-43D30662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909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1건 탐지</a:t>
            </a:r>
          </a:p>
        </p:txBody>
      </p:sp>
      <p:sp>
        <p:nvSpPr>
          <p:cNvPr id="17" name="matrix-2-2">
            <a:extLst xmlns:a="http://schemas.openxmlformats.org/drawingml/2006/main">
              <a:ext uri="{FF2B5EF4-FFF2-40B4-BE49-F238E27FC236}">
                <a16:creationId xmlns:a16="http://schemas.microsoft.com/office/drawing/2014/main" id="{953902D4-779F-460E-9FDB-EA826D404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390900"/>
            <a:ext cx="1714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15건 미탐지</a:t>
            </a:r>
          </a:p>
        </p:txBody>
      </p:sp>
      <p:sp>
        <p:nvSpPr>
          <p:cNvPr id="18" name="matrix-2-3">
            <a:extLst xmlns:a="http://schemas.openxmlformats.org/drawingml/2006/main">
              <a:ext uri="{FF2B5EF4-FFF2-40B4-BE49-F238E27FC236}">
                <a16:creationId xmlns:a16="http://schemas.microsoft.com/office/drawing/2014/main" id="{80B0296E-BDC4-4B01-A7C3-1070CE7BF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3390900"/>
            <a:ext cx="1619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230"/>
                </a:solidFill>
              </a:defRPr>
            </a:pPr>
            <a:r>
              <a:rPr sz="975" b="0">
                <a:solidFill>
                  <a:srgbClr val="182230"/>
                </a:solidFill>
              </a:rPr>
              <a:t>0건</a:t>
            </a:r>
          </a:p>
        </p:txBody>
      </p:sp>
      <p:sp>
        <p:nvSpPr>
          <p:cNvPr id="19" name="placeholder-3">
            <a:extLst xmlns:a="http://schemas.openxmlformats.org/drawingml/2006/main">
              <a:ext uri="{FF2B5EF4-FFF2-40B4-BE49-F238E27FC236}">
                <a16:creationId xmlns:a16="http://schemas.microsoft.com/office/drawing/2014/main" id="{27BB6E81-25E0-4825-8267-D1BAD778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3067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4288">
            <a:solidFill>
              <a:srgbClr val="AAB5C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증거 3 플레이스홀더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Rule 100110 Matrix Test PASS 화면</a:t>
            </a:r>
          </a:p>
        </p:txBody>
      </p:sp>
      <p:sp>
        <p:nvSpPr>
          <p:cNvPr id="20" name="placeholder-4">
            <a:extLst xmlns:a="http://schemas.openxmlformats.org/drawingml/2006/main">
              <a:ext uri="{FF2B5EF4-FFF2-40B4-BE49-F238E27FC236}">
                <a16:creationId xmlns:a16="http://schemas.microsoft.com/office/drawing/2014/main" id="{C9083372-098C-4EBE-ACB7-253007B41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4343400"/>
            <a:ext cx="30670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4288">
            <a:solidFill>
              <a:srgbClr val="AAB5C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증거 4 플레이스홀더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Rule 100111 Matrix Test PASS 화면</a:t>
            </a:r>
          </a:p>
        </p:txBody>
      </p:sp>
      <p:sp>
        <p:nvSpPr>
          <p:cNvPr id="21" name="summary">
            <a:extLst xmlns:a="http://schemas.openxmlformats.org/drawingml/2006/main">
              <a:ext uri="{FF2B5EF4-FFF2-40B4-BE49-F238E27FC236}">
                <a16:creationId xmlns:a16="http://schemas.microsoft.com/office/drawing/2014/main" id="{62B53D29-6DCC-40BB-A1D9-005FA4632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553200"/>
            <a:ext cx="641985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정적 검증 판정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두 Rule 모두 Positive만 탐지하고 Negative와 중복 Alert를 제외하였다. 정적 Test는 실제 Runtime Alert 증거를 대신하지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0831069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FF9A60F3-6C06-4379-85DE-2A3C475F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86E86228-B993-44C1-8978-23DF29824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846019AD-AB25-4227-A7EE-01B258697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19150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30"/>
                </a:solidFill>
              </a:defRPr>
            </a:pPr>
            <a:r>
              <a:rPr sz="1425" b="1">
                <a:solidFill>
                  <a:srgbClr val="182230"/>
                </a:solidFill>
              </a:rPr>
              <a:t>5.1.8 Rule 100110 Runtime Alert 검증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7965C499-E772-4382-961A-A91B426E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F3952F-C40D-4A60-AB1F-74C00BCC5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191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B1EFB4-2BA6-4592-9E32-678F3EC66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Dashboard Panel 21에서 DVWA 원본 Event와 Alert를 동일 event_id로 대조한다.</a:t>
            </a:r>
          </a:p>
        </p:txBody>
      </p:sp>
      <p:sp>
        <p:nvSpPr>
          <p:cNvPr id="7" name="runtime-100110-fields">
            <a:extLst xmlns:a="http://schemas.openxmlformats.org/drawingml/2006/main">
              <a:ext uri="{FF2B5EF4-FFF2-40B4-BE49-F238E27FC236}">
                <a16:creationId xmlns:a16="http://schemas.microsoft.com/office/drawing/2014/main" id="{11A3D597-9090-439D-9F1E-C822DD12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2724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대조 필드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동일한 Source event_id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stage = imds_credential_fetch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status = output_returned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result = succeeded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rule.id = 100110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rule.level = 12</a:t>
            </a:r>
          </a:p>
        </p:txBody>
      </p:sp>
      <p:sp>
        <p:nvSpPr>
          <p:cNvPr id="8" name="placeholder-5">
            <a:extLst xmlns:a="http://schemas.openxmlformats.org/drawingml/2006/main">
              <a:ext uri="{FF2B5EF4-FFF2-40B4-BE49-F238E27FC236}">
                <a16:creationId xmlns:a16="http://schemas.microsoft.com/office/drawing/2014/main" id="{151BBFFC-1930-47C0-BE9D-60EB299D3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90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4288">
            <a:solidFill>
              <a:srgbClr val="AAB5C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증거 5 플레이스홀더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Panel 21의 원본 Event와 Rule 100110 Alert 상세</a:t>
            </a:r>
          </a:p>
        </p:txBody>
      </p:sp>
      <p:sp>
        <p:nvSpPr>
          <p:cNvPr id="9" name="summary">
            <a:extLst xmlns:a="http://schemas.openxmlformats.org/drawingml/2006/main">
              <a:ext uri="{FF2B5EF4-FFF2-40B4-BE49-F238E27FC236}">
                <a16:creationId xmlns:a16="http://schemas.microsoft.com/office/drawing/2014/main" id="{FD2A70E4-6DE2-4B39-AAE1-C8180CAE7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6419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Runtime 판정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원본 Event의 안전한 분류 필드가 Rule 100110의 모든 조건과 일치했고, 동일 event_id를 가진 Level 12 Alert가 생성되었다.</a:t>
            </a:r>
          </a:p>
        </p:txBody>
      </p:sp>
      <p:sp>
        <p:nvSpPr>
          <p:cNvPr id="10" name="runtime-100110-redaction">
            <a:extLst xmlns:a="http://schemas.openxmlformats.org/drawingml/2006/main">
              <a:ext uri="{FF2B5EF4-FFF2-40B4-BE49-F238E27FC236}">
                <a16:creationId xmlns:a16="http://schemas.microsoft.com/office/drawing/2014/main" id="{14956E42-6978-42AB-95E5-C304990BB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48600"/>
            <a:ext cx="641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D2B4F"/>
                </a:solidFill>
              </a:defRPr>
            </a:pPr>
            <a:r>
              <a:rPr sz="975" b="0">
                <a:solidFill>
                  <a:srgbClr val="0D2B4F"/>
                </a:solidFill>
              </a:rPr>
              <a:t>공개 화면에서는 Account, Credential, Cookie, 원문 Command와 응답을 노출하지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2907559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30C8A34D-923F-4F43-964B-52B5D9C6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873B4A2D-BA90-4BA1-8BE3-17685689A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C59066CE-6650-46F6-AC26-6CAD87FFA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19150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30"/>
                </a:solidFill>
              </a:defRPr>
            </a:pPr>
            <a:r>
              <a:rPr sz="1425" b="1">
                <a:solidFill>
                  <a:srgbClr val="182230"/>
                </a:solidFill>
              </a:rPr>
              <a:t>5.1.9 Rule 100111 Runtime Alert 검증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A4923E66-F134-4902-81E3-E0052740C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2807D6-B4DF-42E4-96E8-46A60EF60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191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3CA95-0182-4F1A-8E3A-52948B41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Dashboard Panel 22에서 CloudTrail 원본 Event와 Alert를 동일 eventID로 대조한다.</a:t>
            </a:r>
          </a:p>
        </p:txBody>
      </p:sp>
      <p:sp>
        <p:nvSpPr>
          <p:cNvPr id="7" name="placeholder-6">
            <a:extLst xmlns:a="http://schemas.openxmlformats.org/drawingml/2006/main">
              <a:ext uri="{FF2B5EF4-FFF2-40B4-BE49-F238E27FC236}">
                <a16:creationId xmlns:a16="http://schemas.microsoft.com/office/drawing/2014/main" id="{13060295-271D-4F89-957D-6F636958B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34290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14288">
            <a:solidFill>
              <a:srgbClr val="AAB5C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증거 6 플레이스홀더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125" b="1">
                <a:solidFill>
                  <a:srgbClr val="52606F"/>
                </a:solidFill>
              </a:defRPr>
            </a:pPr>
            <a:r>
              <a:rPr sz="1125" b="1">
                <a:solidFill>
                  <a:srgbClr val="52606F"/>
                </a:solidFill>
              </a:rPr>
              <a:t>Panel 22의 CloudTrail Event와 Rule 100111 Alert 상세</a:t>
            </a:r>
          </a:p>
        </p:txBody>
      </p:sp>
      <p:sp>
        <p:nvSpPr>
          <p:cNvPr id="8" name="runtime-100111-fields">
            <a:extLst xmlns:a="http://schemas.openxmlformats.org/drawingml/2006/main">
              <a:ext uri="{FF2B5EF4-FFF2-40B4-BE49-F238E27FC236}">
                <a16:creationId xmlns:a16="http://schemas.microsoft.com/office/drawing/2014/main" id="{92D25B51-93B1-4EBC-99E7-3D5E284BF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190750"/>
            <a:ext cx="272415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대조 필드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동일한 CloudTrail eventID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eventName = GetObject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승인된 AssumedRole과 Object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httpStatusCode = 200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bytesTransferredOut &gt; 0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rule.id = 100111</a:t>
            </a:r>
          </a:p>
          <a:p xmlns:a="http://schemas.openxmlformats.org/drawingml/2006/main">
            <a:pPr algn="l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• rule.level = 14</a:t>
            </a:r>
          </a:p>
        </p:txBody>
      </p:sp>
      <p:sp>
        <p:nvSpPr>
          <p:cNvPr id="9" name="summary">
            <a:extLst xmlns:a="http://schemas.openxmlformats.org/drawingml/2006/main">
              <a:ext uri="{FF2B5EF4-FFF2-40B4-BE49-F238E27FC236}">
                <a16:creationId xmlns:a16="http://schemas.microsoft.com/office/drawing/2014/main" id="{0EF6C1AA-C25A-4653-97D9-A0BF96F19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53150"/>
            <a:ext cx="641985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4F4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Runtime 판정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원본 CloudTrail Event가 Rule 100111의 모든 조건과 일치했고, 동일 eventID를 가진 Level 14 Alert가 생성되었다.</a:t>
            </a:r>
          </a:p>
        </p:txBody>
      </p:sp>
      <p:sp>
        <p:nvSpPr>
          <p:cNvPr id="10" name="runtime-100111-scope">
            <a:extLst xmlns:a="http://schemas.openxmlformats.org/drawingml/2006/main">
              <a:ext uri="{FF2B5EF4-FFF2-40B4-BE49-F238E27FC236}">
                <a16:creationId xmlns:a16="http://schemas.microsoft.com/office/drawing/2014/main" id="{B1D738C1-E136-4C99-AAA2-45DA91A76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7848600"/>
            <a:ext cx="64198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0D2B4F"/>
                </a:solidFill>
              </a:defRPr>
            </a:pPr>
            <a:r>
              <a:rPr sz="975" b="0">
                <a:solidFill>
                  <a:srgbClr val="0D2B4F"/>
                </a:solidFill>
              </a:rPr>
              <a:t>판정 범위는 고정 검증용 S3 Object의 실제 Byte 반환이다. S3 전체 유출로 확대 해석하지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12312154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chapter-header-bg">
            <a:extLst xmlns:a="http://schemas.openxmlformats.org/drawingml/2006/main">
              <a:ext uri="{FF2B5EF4-FFF2-40B4-BE49-F238E27FC236}">
                <a16:creationId xmlns:a16="http://schemas.microsoft.com/office/drawing/2014/main" id="{94004C18-0270-4E33-89EA-2C7D638C9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628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8FE"/>
          </a:solidFill>
          <a:ln xmlns:a="http://schemas.openxmlformats.org/drawingml/2006/main" w="0">
            <a:solidFill>
              <a:srgbClr val="DBE8FE"/>
            </a:solidFill>
            <a:prstDash val="solid"/>
          </a:ln>
        </p:spPr>
      </p:sp>
      <p:sp>
        <p:nvSpPr>
          <p:cNvPr id="2" name="chapter-header">
            <a:extLst xmlns:a="http://schemas.openxmlformats.org/drawingml/2006/main">
              <a:ext uri="{FF2B5EF4-FFF2-40B4-BE49-F238E27FC236}">
                <a16:creationId xmlns:a16="http://schemas.microsoft.com/office/drawing/2014/main" id="{BF407979-9FF1-46D0-9B71-8619E1A3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61925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D2B4F"/>
                </a:solidFill>
              </a:defRPr>
            </a:pPr>
            <a:r>
              <a:rPr sz="1275" b="1">
                <a:solidFill>
                  <a:srgbClr val="0D2B4F"/>
                </a:solidFill>
              </a:rPr>
              <a:t>CHAPTER 5. 보안관제(SOC) 기반 탐지·자동 대응 체계</a:t>
            </a:r>
          </a:p>
        </p:txBody>
      </p:sp>
      <p:sp>
        <p:nvSpPr>
          <p:cNvPr id="3" name="page-title">
            <a:extLst xmlns:a="http://schemas.openxmlformats.org/drawingml/2006/main">
              <a:ext uri="{FF2B5EF4-FFF2-40B4-BE49-F238E27FC236}">
                <a16:creationId xmlns:a16="http://schemas.microsoft.com/office/drawing/2014/main" id="{F84BF54C-A318-4E04-A349-806F906E2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19150"/>
            <a:ext cx="693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82230"/>
                </a:solidFill>
              </a:defRPr>
            </a:pPr>
            <a:r>
              <a:rPr sz="1425" b="1">
                <a:solidFill>
                  <a:srgbClr val="182230"/>
                </a:solidFill>
              </a:rPr>
              <a:t>5.1.10 종합 판정과 해석 한계</a:t>
            </a: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4727C84D-DE9D-4302-82D7-2D075F36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0"/>
            <a:ext cx="6934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EC805A-B5E2-4E9A-B181-D48DCDEF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019175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675" b="0">
                <a:solidFill>
                  <a:srgbClr val="7D8794"/>
                </a:solidFill>
              </a:defRPr>
            </a:pPr>
            <a:r>
              <a:rPr sz="675" b="0">
                <a:solidFill>
                  <a:srgbClr val="7D8794"/>
                </a:solidFill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A7C2BC-0BB5-4EE0-82CA-F8FE8520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04950"/>
            <a:ext cx="6419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중앙 관제 화면은 탐지 결과뿐 아니라 Alert가 생성된 근거를 한 흐름으로 보여준다.</a:t>
            </a:r>
          </a:p>
        </p:txBody>
      </p:sp>
      <p:sp>
        <p:nvSpPr>
          <p:cNvPr id="7" name="evidence-chain">
            <a:extLst xmlns:a="http://schemas.openxmlformats.org/drawingml/2006/main">
              <a:ext uri="{FF2B5EF4-FFF2-40B4-BE49-F238E27FC236}">
                <a16:creationId xmlns:a16="http://schemas.microsoft.com/office/drawing/2014/main" id="{5A0045CF-339C-46EA-BFD8-56C1553B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209800"/>
            <a:ext cx="64198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B4F"/>
          </a:solidFill>
          <a:ln xmlns:a="http://schemas.openxmlformats.org/drawingml/2006/main" w="0">
            <a:solidFill>
              <a:srgbClr val="0D2B4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FFFFF"/>
                </a:solidFill>
              </a:defRPr>
            </a:pPr>
            <a:r>
              <a:rPr sz="1050" b="0">
                <a:solidFill>
                  <a:srgbClr val="FFFFFF"/>
                </a:solidFill>
              </a:rPr>
              <a:t>원본 Event  →  주요 필드 구조화  →  Rule 조건 일치  →  Alert 생성  →  Dashboard 조사</a:t>
            </a:r>
          </a:p>
        </p:txBody>
      </p:sp>
      <p:sp>
        <p:nvSpPr>
          <p:cNvPr id="8" name="final-results">
            <a:extLst xmlns:a="http://schemas.openxmlformats.org/drawingml/2006/main">
              <a:ext uri="{FF2B5EF4-FFF2-40B4-BE49-F238E27FC236}">
                <a16:creationId xmlns:a16="http://schemas.microsoft.com/office/drawing/2014/main" id="{842C59AB-2740-416C-8912-0E0FFFAFB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733800"/>
            <a:ext cx="64198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C"/>
          </a:solidFill>
          <a:ln xmlns:a="http://schemas.openxmlformats.org/drawingml/2006/main" w="9525">
            <a:solidFill>
              <a:srgbClr val="99AC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검증 결과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분산된 DVWA·CloudTrail Event를 Wazuh에서 중앙 조회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Rule 100110: Positive 1 / Negative 8 / Duplicate 0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Rule 100111: Positive 1 / Negative 15 / Duplicate 0</a:t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• 원본 식별자와 Runtime Alert의 일대일 연결 확인</a:t>
            </a:r>
          </a:p>
        </p:txBody>
      </p:sp>
      <p:sp>
        <p:nvSpPr>
          <p:cNvPr id="9" name="final-limit">
            <a:extLst xmlns:a="http://schemas.openxmlformats.org/drawingml/2006/main">
              <a:ext uri="{FF2B5EF4-FFF2-40B4-BE49-F238E27FC236}">
                <a16:creationId xmlns:a16="http://schemas.microsoft.com/office/drawing/2014/main" id="{5D081323-437C-4304-8730-4064C2AD3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43650"/>
            <a:ext cx="64198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3166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해석 한계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050" b="0">
                <a:solidFill>
                  <a:srgbClr val="182230"/>
                </a:solidFill>
              </a:defRPr>
            </a:pPr>
            <a:r>
              <a:rPr sz="1050" b="0">
                <a:solidFill>
                  <a:srgbClr val="182230"/>
                </a:solidFill>
              </a:rPr>
              <a:t>Rule 100110과 Rule 100111은 독립적으로 발생한다. Dashboard가 공격 인과관계를 자동 계산한 것은 아니며, 관제자가 Event 시각, 식별자, 실행 주체와 대상 Object를 비교해 동일 공격 흐름으로 조사하였다.</a:t>
            </a:r>
          </a:p>
        </p:txBody>
      </p:sp>
      <p:sp>
        <p:nvSpPr>
          <p:cNvPr id="10" name="final-verdict">
            <a:extLst xmlns:a="http://schemas.openxmlformats.org/drawingml/2006/main">
              <a:ext uri="{FF2B5EF4-FFF2-40B4-BE49-F238E27FC236}">
                <a16:creationId xmlns:a16="http://schemas.microsoft.com/office/drawing/2014/main" id="{2C3423CF-AC38-4FDD-A895-9D00B3982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0"/>
            <a:ext cx="6419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D2B4F"/>
                </a:solidFill>
              </a:defRPr>
            </a:pPr>
            <a:r>
              <a:rPr sz="1200" b="1">
                <a:solidFill>
                  <a:srgbClr val="0D2B4F"/>
                </a:solidFill>
              </a:rPr>
              <a:t>최종 판정: Wazuh 중앙 관제 화면에서 원본 Event → Rule 조건 일치 → Alert 생성 → 사건 조사 흐름을 검증하였다.</a:t>
            </a:r>
          </a:p>
        </p:txBody>
      </p:sp>
    </p:spTree>
    <p:extLst>
      <p:ext uri="{BB962C8B-B14F-4D97-AF65-F5344CB8AC3E}">
        <p14:creationId xmlns:p14="http://schemas.microsoft.com/office/powerpoint/2010/main" val="15785062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2026-08-24T11:51:32.8420000Z</dcterms:created>
  <dcterms:modified xsi:type="dcterms:W3CDTF">2026-08-24T11:51:32.8420000Z</dcterms:modified>
</coreProperties>
</file>