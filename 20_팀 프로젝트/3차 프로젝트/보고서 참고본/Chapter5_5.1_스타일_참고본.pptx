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fd378d2bf4d5b" /><Relationship Type="http://schemas.openxmlformats.org/officeDocument/2006/relationships/extended-properties" Target="/docProps/app.xml" Id="R5c83c43ed12d4da9" /><Relationship Type="http://schemas.openxmlformats.org/officeDocument/2006/relationships/officeDocument" Target="/ppt/presentation.xml" Id="R273b9543f715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8260f6fe447ef"/>
  </p:sldMasterIdLst>
  <p:notesMasterIdLst>
    <p:notesMasterId xmlns:r="http://schemas.openxmlformats.org/officeDocument/2006/relationships" r:id="R5ef3a53dfb6d4ef2"/>
  </p:notesMasterIdLst>
  <p:sldIdLst>
    <p:sldId xmlns:r="http://schemas.openxmlformats.org/officeDocument/2006/relationships" id="256" r:id="Rd7deacfd86f94755"/>
    <p:sldId xmlns:r="http://schemas.openxmlformats.org/officeDocument/2006/relationships" id="257" r:id="Re605f7f220b440aa"/>
    <p:sldId xmlns:r="http://schemas.openxmlformats.org/officeDocument/2006/relationships" id="258" r:id="Rc32fe0c92b00451d"/>
    <p:sldId xmlns:r="http://schemas.openxmlformats.org/officeDocument/2006/relationships" id="259" r:id="Ra2a2072eee3449a9"/>
    <p:sldId xmlns:r="http://schemas.openxmlformats.org/officeDocument/2006/relationships" id="260" r:id="R07fbc1088c8f48ce"/>
    <p:sldId xmlns:r="http://schemas.openxmlformats.org/officeDocument/2006/relationships" id="261" r:id="R797961eb05e140e5"/>
    <p:sldId xmlns:r="http://schemas.openxmlformats.org/officeDocument/2006/relationships" id="262" r:id="R3c52fb59282f416c"/>
    <p:sldId xmlns:r="http://schemas.openxmlformats.org/officeDocument/2006/relationships" id="263" r:id="Rbb2027464e6a425d"/>
    <p:sldId xmlns:r="http://schemas.openxmlformats.org/officeDocument/2006/relationships" id="264" r:id="R873d4c558f32472d"/>
    <p:sldId xmlns:r="http://schemas.openxmlformats.org/officeDocument/2006/relationships" id="265" r:id="R18a570673c00498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b0cf4bea74eed" /><Relationship Type="http://schemas.openxmlformats.org/officeDocument/2006/relationships/slideMaster" Target="/ppt/slideMasters/slideMaster1.xml" Id="R2d58260f6fe447ef" /><Relationship Type="http://schemas.openxmlformats.org/officeDocument/2006/relationships/notesMaster" Target="/ppt/notesMasters/notesMaster1.xml" Id="R5ef3a53dfb6d4ef2" /><Relationship Type="http://schemas.openxmlformats.org/officeDocument/2006/relationships/presProps" Target="/ppt/presProps.xml" Id="R6514f473c9e348fa" /><Relationship Type="http://schemas.openxmlformats.org/officeDocument/2006/relationships/tableStyles" Target="/ppt/tableStyles.xml" Id="R8718b767836e4860" /><Relationship Type="http://schemas.openxmlformats.org/officeDocument/2006/relationships/slide" Target="/ppt/slides/slide1.xml" Id="Rd7deacfd86f94755" /><Relationship Type="http://schemas.openxmlformats.org/officeDocument/2006/relationships/slide" Target="/ppt/slides/slide2.xml" Id="Re605f7f220b440aa" /><Relationship Type="http://schemas.openxmlformats.org/officeDocument/2006/relationships/slide" Target="/ppt/slides/slide3.xml" Id="Rc32fe0c92b00451d" /><Relationship Type="http://schemas.openxmlformats.org/officeDocument/2006/relationships/slide" Target="/ppt/slides/slide4.xml" Id="Ra2a2072eee3449a9" /><Relationship Type="http://schemas.openxmlformats.org/officeDocument/2006/relationships/slide" Target="/ppt/slides/slide5.xml" Id="R07fbc1088c8f48ce" /><Relationship Type="http://schemas.openxmlformats.org/officeDocument/2006/relationships/slide" Target="/ppt/slides/slide6.xml" Id="R797961eb05e140e5" /><Relationship Type="http://schemas.openxmlformats.org/officeDocument/2006/relationships/slide" Target="/ppt/slides/slide7.xml" Id="R3c52fb59282f416c" /><Relationship Type="http://schemas.openxmlformats.org/officeDocument/2006/relationships/slide" Target="/ppt/slides/slide8.xml" Id="Rbb2027464e6a425d" /><Relationship Type="http://schemas.openxmlformats.org/officeDocument/2006/relationships/slide" Target="/ppt/slides/slide9.xml" Id="R873d4c558f32472d" /><Relationship Type="http://schemas.openxmlformats.org/officeDocument/2006/relationships/slide" Target="/ppt/slides/slide10.xml" Id="R18a570673c00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e27471dd04a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4982f19344f41" /><Relationship Type="http://schemas.openxmlformats.org/officeDocument/2006/relationships/notesMaster" Target="/ppt/notesMasters/notesMaster1.xml" Id="Readfd652af0b42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3ba8acffb4ad8" /><Relationship Type="http://schemas.openxmlformats.org/officeDocument/2006/relationships/notesMaster" Target="/ppt/notesMasters/notesMaster1.xml" Id="Rf592a4fa42bb4d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2ede65988b4d9d" /><Relationship Type="http://schemas.openxmlformats.org/officeDocument/2006/relationships/notesMaster" Target="/ppt/notesMasters/notesMaster1.xml" Id="R5ec8c33e525a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33f2a45106441c" /><Relationship Type="http://schemas.openxmlformats.org/officeDocument/2006/relationships/notesMaster" Target="/ppt/notesMasters/notesMaster1.xml" Id="R62994fc71fa3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f1727d7154281" /><Relationship Type="http://schemas.openxmlformats.org/officeDocument/2006/relationships/notesMaster" Target="/ppt/notesMasters/notesMaster1.xml" Id="R0c3452335c09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5ef6884bd47da" /><Relationship Type="http://schemas.openxmlformats.org/officeDocument/2006/relationships/notesMaster" Target="/ppt/notesMasters/notesMaster1.xml" Id="Rdd8c631c794e4a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3aa6bfcf554d3b" /><Relationship Type="http://schemas.openxmlformats.org/officeDocument/2006/relationships/notesMaster" Target="/ppt/notesMasters/notesMaster1.xml" Id="Rfbdfa99b2c9a48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e96c1dcca473e" /><Relationship Type="http://schemas.openxmlformats.org/officeDocument/2006/relationships/notesMaster" Target="/ppt/notesMasters/notesMaster1.xml" Id="R7e385c0e42f04c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a93f30e928473b" /><Relationship Type="http://schemas.openxmlformats.org/officeDocument/2006/relationships/notesMaster" Target="/ppt/notesMasters/notesMaster1.xml" Id="Rd1383f625f1048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10bb5ff905480e" /><Relationship Type="http://schemas.openxmlformats.org/officeDocument/2006/relationships/notesMaster" Target="/ppt/notesMasters/notesMaster1.xml" Id="Raf30e755f9f5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Docker Desktop 화면: codex-clipboard-f783c774-61de-4373-a8b0-e2235af3e230.png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내용과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수집 경로와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Wazuh Dashboard 화면: codex-clipboard-37e40f92-daca-4e37-86e8-076564f33336.png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Rule 100110 조건과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Rule 100111 조건과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Matrix Test 결과와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Rule 100110 Runtime 검증 기준과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Rule 100111 Runtime 검증 기준과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검증 결과와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e60317e2645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25ace8d5bb462c" /><Relationship Type="http://schemas.openxmlformats.org/officeDocument/2006/relationships/slideLayout" Target="/ppt/slideLayouts/slideLayout1.xml" Id="Rf11a0c0fb0bf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1a0c0fb0bf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f4637947b4ae3" /><Relationship Type="http://schemas.openxmlformats.org/officeDocument/2006/relationships/image" Target="/ppt/media/image.png" Id="R25cec9fa22124a7d" /><Relationship Type="http://schemas.openxmlformats.org/officeDocument/2006/relationships/notesSlide" Target="/ppt/notesSlides/notesSlide1.xml" Id="Rc363cd4fd7f942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6ed415c3347e2" /><Relationship Type="http://schemas.openxmlformats.org/officeDocument/2006/relationships/notesSlide" Target="/ppt/notesSlides/notesSlide2.xml" Id="R2a156551e61c42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da8b948b846fd" /><Relationship Type="http://schemas.openxmlformats.org/officeDocument/2006/relationships/notesSlide" Target="/ppt/notesSlides/notesSlide3.xml" Id="R09ea528f38d047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99da14ad342e5" /><Relationship Type="http://schemas.openxmlformats.org/officeDocument/2006/relationships/image" Target="/ppt/media/image2.png" Id="R684a697295084f68" /><Relationship Type="http://schemas.openxmlformats.org/officeDocument/2006/relationships/notesSlide" Target="/ppt/notesSlides/notesSlide4.xml" Id="R711da726536e41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408074ea54e0e" /><Relationship Type="http://schemas.openxmlformats.org/officeDocument/2006/relationships/notesSlide" Target="/ppt/notesSlides/notesSlide5.xml" Id="R8d3009d4ce16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69e6c99a04b02" /><Relationship Type="http://schemas.openxmlformats.org/officeDocument/2006/relationships/notesSlide" Target="/ppt/notesSlides/notesSlide6.xml" Id="R2374af733b2a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3835ba03e490b" /><Relationship Type="http://schemas.openxmlformats.org/officeDocument/2006/relationships/notesSlide" Target="/ppt/notesSlides/notesSlide7.xml" Id="R29a5ed003a0248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09856ce64e75" /><Relationship Type="http://schemas.openxmlformats.org/officeDocument/2006/relationships/notesSlide" Target="/ppt/notesSlides/notesSlide8.xml" Id="R1ab174dd43f049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0e36502364cc1" /><Relationship Type="http://schemas.openxmlformats.org/officeDocument/2006/relationships/notesSlide" Target="/ppt/notesSlides/notesSlide9.xml" Id="R4c269e04c1494a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0d8e72bb4695" /><Relationship Type="http://schemas.openxmlformats.org/officeDocument/2006/relationships/notesSlide" Target="/ppt/notesSlides/notesSlide10.xml" Id="R077045e7a5dc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7494C131-9629-4801-9693-C0CAA1D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FC5A0BC2-8D1D-4D34-A078-3B78836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C651B7C-67EE-4B23-BEB3-E921A0C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5.1.1 중앙 관제 구성 목적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3CBCD2F-15A3-4BFF-A4AC-7E2C5DC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47AA3D-550C-4F3A-B38A-227B7EA1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E7F84-B5B6-4BA3-8737-821C7A62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분산된 보안 Event를 Wazuh 한곳에서 조회하고, 원본 필드와 Custom Rule의 조건 일치 여부를 근거로 Alert 생성 과정을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99D70-6079-46CB-B874-954A542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분석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1EAEB-C807-48CD-BE9B-2127BCF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641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분산 로그의 중앙 조회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주요 필드 구조화와 사건 식별자 확인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Custom Rule에 의한 Alert 생성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동일 시간창에서 원본 Event와 Alert 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F7970-8C63-4E7C-B350-699DFC0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F"/>
                </a:solidFill>
              </a:defRPr>
            </a:pPr>
            <a:r>
              <a:rPr sz="900" b="1">
                <a:solidFill>
                  <a:srgbClr val="52606F"/>
                </a:solidFill>
              </a:rPr>
              <a:t>그림 5-1. Wazuh Manager·Indexer·Dashboard 실행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623E-EC96-4B98-8A00-05534F9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64579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ec9fa22124a7d"/>
          <a:stretch xmlns:a="http://schemas.openxmlformats.org/drawingml/2006/main"/>
        </p:blipFill>
        <p:spPr>
          <a:xfrm xmlns:a="http://schemas.openxmlformats.org/drawingml/2006/main">
            <a:off x="571830" y="4171950"/>
            <a:ext cx="6419189" cy="3638550"/>
          </a:xfrm>
          <a:prstGeom xmlns:a="http://schemas.openxmlformats.org/drawingml/2006/main" prst="rect">
            <a:avLst/>
          </a:prstGeom>
        </p:spPr>
      </p:pic>
      <p:sp>
        <p:nvSpPr>
          <p:cNvPr id="12" name="summary">
            <a:extLst xmlns:a="http://schemas.openxmlformats.org/drawingml/2006/main">
              <a:ext uri="{FF2B5EF4-FFF2-40B4-BE49-F238E27FC236}">
                <a16:creationId xmlns:a16="http://schemas.microsoft.com/office/drawing/2014/main" id="{99F3890C-0D00-421B-A292-F733AF12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6419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운영 상태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Manager · Indexer · Dashboard가 모두 실행 중이며, 수집·분석·시각화 구성요소가 준비된 상태를 확인하였다.</a:t>
            </a:r>
          </a:p>
        </p:txBody>
      </p:sp>
    </p:spTree>
    <p:extLst>
      <p:ext uri="{BB962C8B-B14F-4D97-AF65-F5344CB8AC3E}">
        <p14:creationId xmlns:p14="http://schemas.microsoft.com/office/powerpoint/2010/main" val="65899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EDAEA2D3-1642-499C-9460-5C319FD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FEB6EC1E-A8FF-4D84-ABA1-B9CA09A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07A4844-C0B5-47CA-B9EB-F8D0A85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5.1.2 Wazuh 중앙 구성요소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CC93DF-54BE-49BF-8262-A7FB964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FFA561-7F34-4CA8-95E3-F8A61D4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BC860-EF04-40C0-AF19-99AAC7C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중앙 SIEM은 수집·분석·검색·시각화 역할을 세 구성요소로 분리한다.</a:t>
            </a:r>
          </a:p>
        </p:txBody>
      </p:sp>
      <p:sp>
        <p:nvSpPr>
          <p:cNvPr id="7" name="role-label-0">
            <a:extLst xmlns:a="http://schemas.openxmlformats.org/drawingml/2006/main">
              <a:ext uri="{FF2B5EF4-FFF2-40B4-BE49-F238E27FC236}">
                <a16:creationId xmlns:a16="http://schemas.microsoft.com/office/drawing/2014/main" id="{022B7579-4332-46C7-A5AC-6CF8920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Wazuh Manager</a:t>
            </a:r>
          </a:p>
        </p:txBody>
      </p:sp>
      <p:sp>
        <p:nvSpPr>
          <p:cNvPr id="8" name="role-desc-0">
            <a:extLst xmlns:a="http://schemas.openxmlformats.org/drawingml/2006/main">
              <a:ext uri="{FF2B5EF4-FFF2-40B4-BE49-F238E27FC236}">
                <a16:creationId xmlns:a16="http://schemas.microsoft.com/office/drawing/2014/main" id="{C79D6AD8-D000-41F6-80DD-D7000769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461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Decoder로 원본 Event를 구조화하고 Custom Rule 조건을 평가해 Alert를 생성한다.</a:t>
            </a:r>
          </a:p>
        </p:txBody>
      </p:sp>
      <p:sp>
        <p:nvSpPr>
          <p:cNvPr id="9" name="role-label-1">
            <a:extLst xmlns:a="http://schemas.openxmlformats.org/drawingml/2006/main">
              <a:ext uri="{FF2B5EF4-FFF2-40B4-BE49-F238E27FC236}">
                <a16:creationId xmlns:a16="http://schemas.microsoft.com/office/drawing/2014/main" id="{784FC6CE-99AF-4DE0-9FF9-85F65C2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Wazuh Indexer</a:t>
            </a:r>
          </a:p>
        </p:txBody>
      </p:sp>
      <p:sp>
        <p:nvSpPr>
          <p:cNvPr id="10" name="role-desc-1">
            <a:extLst xmlns:a="http://schemas.openxmlformats.org/drawingml/2006/main">
              <a:ext uri="{FF2B5EF4-FFF2-40B4-BE49-F238E27FC236}">
                <a16:creationId xmlns:a16="http://schemas.microsoft.com/office/drawing/2014/main" id="{E5D2BD16-7CF6-44DC-A0BB-D3556E3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461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원본 Event와 Alert를 색인하여 시간·Rule·Source별 검색을 제공한다.</a:t>
            </a:r>
          </a:p>
        </p:txBody>
      </p:sp>
      <p:sp>
        <p:nvSpPr>
          <p:cNvPr id="11" name="role-label-2">
            <a:extLst xmlns:a="http://schemas.openxmlformats.org/drawingml/2006/main">
              <a:ext uri="{FF2B5EF4-FFF2-40B4-BE49-F238E27FC236}">
                <a16:creationId xmlns:a16="http://schemas.microsoft.com/office/drawing/2014/main" id="{65748516-105F-496D-AE03-CD05D3C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Wazuh Dashboard</a:t>
            </a:r>
          </a:p>
        </p:txBody>
      </p:sp>
      <p:sp>
        <p:nvSpPr>
          <p:cNvPr id="12" name="role-desc-2">
            <a:extLst xmlns:a="http://schemas.openxmlformats.org/drawingml/2006/main">
              <a:ext uri="{FF2B5EF4-FFF2-40B4-BE49-F238E27FC236}">
                <a16:creationId xmlns:a16="http://schemas.microsoft.com/office/drawing/2014/main" id="{76985067-0DED-4D9D-8EC5-2505912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461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Metric, Timeline, 상세 표를 통해 탐지 발생 여부와 근거 필드를 시각화한다.</a:t>
            </a:r>
          </a:p>
        </p:txBody>
      </p:sp>
      <p:sp>
        <p:nvSpPr>
          <p:cNvPr id="13" name="summary">
            <a:extLst xmlns:a="http://schemas.openxmlformats.org/drawingml/2006/main">
              <a:ext uri="{FF2B5EF4-FFF2-40B4-BE49-F238E27FC236}">
                <a16:creationId xmlns:a16="http://schemas.microsoft.com/office/drawing/2014/main" id="{077AB39C-BF4D-4B7E-9ED9-4B1363C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6419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프로젝트 적용 범위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DVWA 감사 Event와 CloudTrail S3 Data Event를 중앙에서 조회하고, Rule 100110·100111의 탐지 근거를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735D5-32DA-43ED-BF5F-2DF711A8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641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F"/>
                </a:solidFill>
              </a:defRPr>
            </a:pPr>
            <a:r>
              <a:rPr sz="900" b="0">
                <a:solidFill>
                  <a:srgbClr val="52606F"/>
                </a:solidFill>
              </a:rPr>
              <a:t>따라 만들기: 좌측 역할 라벨은 남색, 우측 설명 영역은 연한 파란색으로 통일한다.</a:t>
            </a:r>
          </a:p>
        </p:txBody>
      </p:sp>
    </p:spTree>
    <p:extLst>
      <p:ext uri="{BB962C8B-B14F-4D97-AF65-F5344CB8AC3E}">
        <p14:creationId xmlns:p14="http://schemas.microsoft.com/office/powerpoint/2010/main" val="1557010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AC0C76D2-931F-4D4B-8BA1-2307B71F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1164EEA2-DC6D-4DFD-80C8-7F8DD284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CD8C3CE-659D-47DF-9879-D8A69542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5.1.3 로그 수집 경로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6327796-DFC8-4177-B6DB-6D4C3D3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C25EFF-039F-484A-9F98-9721AB04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BD487-045A-4656-A7A0-A8B9200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Source별 전달 방식과 도착 주기가 다르므로 조기 신호와 확정 근거를 구분한다.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721BB-2EAA-4167-A299-167F037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DVWA 저지연 Event</a:t>
            </a:r>
          </a:p>
        </p:txBody>
      </p:sp>
      <p:sp>
        <p:nvSpPr>
          <p:cNvPr id="8" name="dvwa-path">
            <a:extLst xmlns:a="http://schemas.openxmlformats.org/drawingml/2006/main">
              <a:ext uri="{FF2B5EF4-FFF2-40B4-BE49-F238E27FC236}">
                <a16:creationId xmlns:a16="http://schemas.microsoft.com/office/drawing/2014/main" id="{7323C4F1-08A0-4FF7-AB44-26A1B98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641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CloudWatch Logs  →  Subscription  →  Lambda  →  SQS  →  Local Bridge  →  Wazuh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BEC18-F374-429D-A431-B171D72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CloudTrail S3 Data Event</a:t>
            </a:r>
          </a:p>
        </p:txBody>
      </p:sp>
      <p:sp>
        <p:nvSpPr>
          <p:cNvPr id="10" name="cloudtrail-path">
            <a:extLst xmlns:a="http://schemas.openxmlformats.org/drawingml/2006/main">
              <a:ext uri="{FF2B5EF4-FFF2-40B4-BE49-F238E27FC236}">
                <a16:creationId xmlns:a16="http://schemas.microsoft.com/office/drawing/2014/main" id="{C540F266-6E2D-4E08-BF04-0E35F37D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641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CloudTrail  →  Wazuh AWS Module의 10분 예약 수집  →  Wazuh</a:t>
            </a:r>
          </a:p>
        </p:txBody>
      </p:sp>
      <p:sp>
        <p:nvSpPr>
          <p:cNvPr id="11" name="collection-interpretation">
            <a:extLst xmlns:a="http://schemas.openxmlformats.org/drawingml/2006/main">
              <a:ext uri="{FF2B5EF4-FFF2-40B4-BE49-F238E27FC236}">
                <a16:creationId xmlns:a16="http://schemas.microsoft.com/office/drawing/2014/main" id="{98477568-1EE6-4115-BCF0-2900A55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6419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운영 해석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DVWA Event는 IMDS Credential 접근의 조기 신호로 사용한다.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CloudTrail Event는 고정 검증용 S3 Object에서 실제 Byte가 반환됐는지 확인하는 근거로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E6A60-DB12-4CC0-A87F-40CC9758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91450"/>
            <a:ext cx="641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B4F"/>
                </a:solidFill>
              </a:defRPr>
            </a:pPr>
            <a:r>
              <a:rPr sz="1125" b="1">
                <a:solidFill>
                  <a:srgbClr val="0D2B4F"/>
                </a:solidFill>
              </a:rPr>
              <a:t>두 Source를 하나의 Wazuh Dashboard에서 같은 시간창으로 연결해 조사한다.</a:t>
            </a:r>
          </a:p>
        </p:txBody>
      </p:sp>
    </p:spTree>
    <p:extLst>
      <p:ext uri="{BB962C8B-B14F-4D97-AF65-F5344CB8AC3E}">
        <p14:creationId xmlns:p14="http://schemas.microsoft.com/office/powerpoint/2010/main" val="1316034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FE17FB35-2686-4AC0-BA2B-5687711C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3E294387-852C-411F-BC92-6E9326C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7EAD56-593E-4B17-8A6D-8453584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5.1.4 중앙 관제 Dashboard와 Alert 현황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1D2591-A32D-40E6-8851-F582595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2C9CD9-C494-456C-A619-B18E0F3E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63CF3-BBAA-4D0A-B5CF-80AB3FA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상단 Count로 탐지 여부를 확인하고, 하단 원본 필드에서 Rule 조건과 일치한 근거를 대조한다.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4412D-A126-4E98-92D7-69174DA6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F"/>
                </a:solidFill>
              </a:defRPr>
            </a:pPr>
            <a:r>
              <a:rPr sz="900" b="1">
                <a:solidFill>
                  <a:srgbClr val="52606F"/>
                </a:solidFill>
              </a:rPr>
              <a:t>그림 5-2. Capital One SOC Dashboard의 Rule 100110·100111 탐지 현황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A0126-F86B-467D-8DBD-5D06C14E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4579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a697295084f68"/>
          <a:stretch xmlns:a="http://schemas.openxmlformats.org/drawingml/2006/main"/>
        </p:blipFill>
        <p:spPr>
          <a:xfrm xmlns:a="http://schemas.openxmlformats.org/drawingml/2006/main">
            <a:off x="571500" y="2497232"/>
            <a:ext cx="6419850" cy="3520886"/>
          </a:xfrm>
          <a:prstGeom xmlns:a="http://schemas.openxmlformats.org/drawingml/2006/main" prst="rect">
            <a:avLst/>
          </a:prstGeom>
        </p:spPr>
      </p:pic>
      <p:sp>
        <p:nvSpPr>
          <p:cNvPr id="10" name="summary">
            <a:extLst xmlns:a="http://schemas.openxmlformats.org/drawingml/2006/main">
              <a:ext uri="{FF2B5EF4-FFF2-40B4-BE49-F238E27FC236}">
                <a16:creationId xmlns:a16="http://schemas.microsoft.com/office/drawing/2014/main" id="{F4F35A38-6460-4BEE-9250-9A0F62D5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6419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화면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Rule 100102 수집 상태 = 0건  |  Rule 100110 조기탐지 = 1건  |  Rule 100111 침해확정 = 1건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동일 시간창에서 Count → 원본 필드 → Rule 조건을 순서대로 확인한다.</a:t>
            </a:r>
          </a:p>
        </p:txBody>
      </p:sp>
      <p:sp>
        <p:nvSpPr>
          <p:cNvPr id="11" name="dashboard-caution">
            <a:extLst xmlns:a="http://schemas.openxmlformats.org/drawingml/2006/main">
              <a:ext uri="{FF2B5EF4-FFF2-40B4-BE49-F238E27FC236}">
                <a16:creationId xmlns:a16="http://schemas.microsoft.com/office/drawing/2014/main" id="{CE0BF364-31DD-4707-9DBC-2A78B3F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641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주의: Dashboard의 동시 표시는 자동 인과관계를 의미하지 않는다. 사건 식별자와 시간, 주체, 대상 Object를 관제자가 직접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97496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C3C17F5D-F7CB-4D10-BC67-13B017B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00CBE83C-E212-457E-9EF9-F6250CB3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CC4F0DA-8B88-4EEB-966B-C486FFA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5.1.5 Rule 100110 — IMDS Credential 접근 조기탐지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B98F3B-5982-4CC8-BFA4-D76DAE7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C7D504-BC95-4828-8A34-EE4B4E0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2FCFA-CE26-41D6-A536-8E28E1E0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DVWA 명령 실행에서 IMDS Credential endpoint의 실제 출력이 반환된 경우만 Alert를 생성한다.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C1240-ED4E-4939-8E65-F9F51DB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핵심 조건</a:t>
            </a:r>
          </a:p>
        </p:txBody>
      </p:sp>
      <p:sp>
        <p:nvSpPr>
          <p:cNvPr id="8" name="rule-100110-conditions">
            <a:extLst xmlns:a="http://schemas.openxmlformats.org/drawingml/2006/main">
              <a:ext uri="{FF2B5EF4-FFF2-40B4-BE49-F238E27FC236}">
                <a16:creationId xmlns:a16="http://schemas.microsoft.com/office/drawing/2014/main" id="{7F293325-798E-490F-A2D2-E8B9A085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90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source = dvwa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transport = push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event_type = command.execution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route = /vulnerabilities/exec/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resource = ec2_imds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security_level = low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stage = imds_credential_fetch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status = output_returned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result = succeeded</a:t>
            </a:r>
          </a:p>
        </p:txBody>
      </p:sp>
      <p:sp>
        <p:nvSpPr>
          <p:cNvPr id="9" name="rule-100110-result">
            <a:extLst xmlns:a="http://schemas.openxmlformats.org/drawingml/2006/main">
              <a:ext uri="{FF2B5EF4-FFF2-40B4-BE49-F238E27FC236}">
                <a16:creationId xmlns:a16="http://schemas.microsoft.com/office/drawing/2014/main" id="{2D9350B8-C5E6-4062-988A-7C7AE579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9050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판정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LEVEL 12</a:t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ALERT</a:t>
            </a:r>
          </a:p>
        </p:txBody>
      </p:sp>
      <p:sp>
        <p:nvSpPr>
          <p:cNvPr id="10" name="rule-100110-limit">
            <a:extLst xmlns:a="http://schemas.openxmlformats.org/drawingml/2006/main">
              <a:ext uri="{FF2B5EF4-FFF2-40B4-BE49-F238E27FC236}">
                <a16:creationId xmlns:a16="http://schemas.microsoft.com/office/drawing/2014/main" id="{C8688025-642B-4B53-A8E0-AAAC7BE2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228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Credential 원문 탈취나 S3 접근 성공을 직접 증명하지 않는다. 조사가 필요한 고위험 Credential 접근 단계를 알리는 조기경보다.</a:t>
            </a:r>
          </a:p>
        </p:txBody>
      </p:sp>
      <p:sp>
        <p:nvSpPr>
          <p:cNvPr id="11" name="summary">
            <a:extLst xmlns:a="http://schemas.openxmlformats.org/drawingml/2006/main">
              <a:ext uri="{FF2B5EF4-FFF2-40B4-BE49-F238E27FC236}">
                <a16:creationId xmlns:a16="http://schemas.microsoft.com/office/drawing/2014/main" id="{72E1F9E5-2612-4C6D-B099-88622EDC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247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Rule 100110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IMDS Credential endpoint의 출력 반환 Event만 Level 12 Alert로 탐지한다.</a:t>
            </a:r>
          </a:p>
        </p:txBody>
      </p:sp>
    </p:spTree>
    <p:extLst>
      <p:ext uri="{BB962C8B-B14F-4D97-AF65-F5344CB8AC3E}">
        <p14:creationId xmlns:p14="http://schemas.microsoft.com/office/powerpoint/2010/main" val="1115047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B3294518-DD7B-4F1E-B152-16741B5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0D84AE12-A530-4ABD-BE5E-9243303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47F09C-B229-42AB-8655-C9C5FC2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5.1.6 Rule 100111 — 보호 S3 객체 접근 확인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937903-B892-46CC-974D-467551B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CC819F-896C-42E7-9B3E-3FE9E04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EE09E-F332-4805-BB18-C4CA469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CloudTrail S3 Data Event에서 승인 조건이 모두 일치하고 객체 Byte가 실제 반환된 경우만 Alert를 생성한다.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C9A3E-EE9E-4D57-8DEA-3A99A908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핵심 조건</a:t>
            </a:r>
          </a:p>
        </p:txBody>
      </p:sp>
      <p:sp>
        <p:nvSpPr>
          <p:cNvPr id="8" name="rule-100111-conditions">
            <a:extLst xmlns:a="http://schemas.openxmlformats.org/drawingml/2006/main">
              <a:ext uri="{FF2B5EF4-FFF2-40B4-BE49-F238E27FC236}">
                <a16:creationId xmlns:a16="http://schemas.microsoft.com/office/drawing/2014/main" id="{CFB80EBE-E6B8-4146-B789-446AEE11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90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eventSource = s3.amazonaws.com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eventName = GetObject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eventCategory = Data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승인된 Account · Region · AssumedRole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고정 검증용 Bucket · 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httpStatusCode = 200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bytesTransferredOut &gt; 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유효한 CloudTrail eventID</a:t>
            </a:r>
          </a:p>
        </p:txBody>
      </p:sp>
      <p:sp>
        <p:nvSpPr>
          <p:cNvPr id="9" name="rule-100111-result">
            <a:extLst xmlns:a="http://schemas.openxmlformats.org/drawingml/2006/main">
              <a:ext uri="{FF2B5EF4-FFF2-40B4-BE49-F238E27FC236}">
                <a16:creationId xmlns:a16="http://schemas.microsoft.com/office/drawing/2014/main" id="{54E7F4CF-C71E-44AC-80E3-7732123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9050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판정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LEVEL 14</a:t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ALERT</a:t>
            </a:r>
          </a:p>
        </p:txBody>
      </p:sp>
      <p:sp>
        <p:nvSpPr>
          <p:cNvPr id="10" name="rule-100111-limit">
            <a:extLst xmlns:a="http://schemas.openxmlformats.org/drawingml/2006/main">
              <a:ext uri="{FF2B5EF4-FFF2-40B4-BE49-F238E27FC236}">
                <a16:creationId xmlns:a16="http://schemas.microsoft.com/office/drawing/2014/main" id="{D9F0194B-A9E2-45FF-8011-2B2D0E82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고정 검증용 객체의 실제 Byte 반환을 증명한다. S3 전체 유출이나 Rule 100110과의 자동 인과관계까지 증명하지는 않는다.</a:t>
            </a:r>
          </a:p>
        </p:txBody>
      </p:sp>
      <p:sp>
        <p:nvSpPr>
          <p:cNvPr id="11" name="summary">
            <a:extLst xmlns:a="http://schemas.openxmlformats.org/drawingml/2006/main">
              <a:ext uri="{FF2B5EF4-FFF2-40B4-BE49-F238E27FC236}">
                <a16:creationId xmlns:a16="http://schemas.microsoft.com/office/drawing/2014/main" id="{B4D7CB05-A572-4717-8889-615B888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961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Rule 100111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고정 S3 Object의 실제 Byte 반환 Event만 Level 14 Alert로 탐지한다.</a:t>
            </a:r>
          </a:p>
        </p:txBody>
      </p:sp>
    </p:spTree>
    <p:extLst>
      <p:ext uri="{BB962C8B-B14F-4D97-AF65-F5344CB8AC3E}">
        <p14:creationId xmlns:p14="http://schemas.microsoft.com/office/powerpoint/2010/main" val="176698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8E76641B-3153-4AC5-9CC7-7D978D5F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02B99EA9-64DC-4A21-B3A0-0504689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ED57FED-0A5D-4ABE-97AA-5FCEC2E9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5.1.7 Positive·Negative Rule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4C76F9B-3F9D-43F5-90A0-C18C89B7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CEDD9B-EF84-4ADE-AB36-B497336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74839-2B62-491A-98CD-D75487FB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정상 입력만 탐지하고 조건 불일치 입력은 제외되는지 Matrix Test로 확인한다.</a:t>
            </a:r>
          </a:p>
        </p:txBody>
      </p:sp>
      <p:sp>
        <p:nvSpPr>
          <p:cNvPr id="7" name="matrix-100110">
            <a:extLst xmlns:a="http://schemas.openxmlformats.org/drawingml/2006/main">
              <a:ext uri="{FF2B5EF4-FFF2-40B4-BE49-F238E27FC236}">
                <a16:creationId xmlns:a16="http://schemas.microsoft.com/office/drawing/2014/main" id="{3E394FC4-F5C8-48E6-9BF8-B6B4D5B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3067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RULE 100110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Positive  1건 탐지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Negative  8건 미탐지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Duplicate 0건</a:t>
            </a:r>
          </a:p>
        </p:txBody>
      </p:sp>
      <p:sp>
        <p:nvSpPr>
          <p:cNvPr id="8" name="matrix-100111">
            <a:extLst xmlns:a="http://schemas.openxmlformats.org/drawingml/2006/main">
              <a:ext uri="{FF2B5EF4-FFF2-40B4-BE49-F238E27FC236}">
                <a16:creationId xmlns:a16="http://schemas.microsoft.com/office/drawing/2014/main" id="{F9BAA93A-6263-405D-8F9C-9E2282A8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3067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RULE 100111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Positive  1건 탐지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Negative 15건 미탐지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Duplicate 0건</a:t>
            </a:r>
          </a:p>
        </p:txBody>
      </p:sp>
      <p:sp>
        <p:nvSpPr>
          <p:cNvPr id="9" name="placeholder-3">
            <a:extLst xmlns:a="http://schemas.openxmlformats.org/drawingml/2006/main">
              <a:ext uri="{FF2B5EF4-FFF2-40B4-BE49-F238E27FC236}">
                <a16:creationId xmlns:a16="http://schemas.microsoft.com/office/drawing/2014/main" id="{5050ABA6-0F63-4FCB-82A3-7E4AB74E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3067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3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Rule 100110 Matrix Test PASS 화면</a:t>
            </a:r>
          </a:p>
        </p:txBody>
      </p:sp>
      <p:sp>
        <p:nvSpPr>
          <p:cNvPr id="10" name="placeholder-4">
            <a:extLst xmlns:a="http://schemas.openxmlformats.org/drawingml/2006/main">
              <a:ext uri="{FF2B5EF4-FFF2-40B4-BE49-F238E27FC236}">
                <a16:creationId xmlns:a16="http://schemas.microsoft.com/office/drawing/2014/main" id="{B456746F-0A78-497B-A2C5-B9D8CFB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3067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4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Rule 100111 Matrix Test PASS 화면</a:t>
            </a:r>
          </a:p>
        </p:txBody>
      </p:sp>
      <p:sp>
        <p:nvSpPr>
          <p:cNvPr id="11" name="summary">
            <a:extLst xmlns:a="http://schemas.openxmlformats.org/drawingml/2006/main">
              <a:ext uri="{FF2B5EF4-FFF2-40B4-BE49-F238E27FC236}">
                <a16:creationId xmlns:a16="http://schemas.microsoft.com/office/drawing/2014/main" id="{2E4D442C-21B7-4D0D-9063-28B33476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6419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정적 검증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두 Rule 모두 Positive만 탐지하고 Negative와 중복 Alert를 제외하였다. 정적 Test는 실제 Runtime Alert 증거를 대신하지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32823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859D6D82-B577-4BBF-95B3-57FB5E6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85238144-C68C-4A86-AD92-BB4F1F7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2AB2A30-29AF-413C-90AA-C8ABC38B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5.1.8 Rule 100110 Runtime Alert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72C609-1FAF-46DE-9D7C-D07FD18A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7F3866-75B0-4CE4-AECF-55DDF814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C8688-D551-4246-9B66-81C8FE9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Dashboard Panel 21에서 DVWA 원본 Event와 Alert를 동일 event_id로 대조한다.</a:t>
            </a:r>
          </a:p>
        </p:txBody>
      </p:sp>
      <p:sp>
        <p:nvSpPr>
          <p:cNvPr id="7" name="runtime-100110-fields">
            <a:extLst xmlns:a="http://schemas.openxmlformats.org/drawingml/2006/main">
              <a:ext uri="{FF2B5EF4-FFF2-40B4-BE49-F238E27FC236}">
                <a16:creationId xmlns:a16="http://schemas.microsoft.com/office/drawing/2014/main" id="{F3DBD4FD-DCBC-4378-ABF9-2F90B721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724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대조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동일한 Source event_id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stage = imds_credential_fetch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status = output_returned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result = succeeded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rule.id = 100110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rule.level = 12</a:t>
            </a:r>
          </a:p>
        </p:txBody>
      </p:sp>
      <p:sp>
        <p:nvSpPr>
          <p:cNvPr id="8" name="placeholder-5">
            <a:extLst xmlns:a="http://schemas.openxmlformats.org/drawingml/2006/main">
              <a:ext uri="{FF2B5EF4-FFF2-40B4-BE49-F238E27FC236}">
                <a16:creationId xmlns:a16="http://schemas.microsoft.com/office/drawing/2014/main" id="{C7171347-9CAE-47C6-8E42-379F6F9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5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Panel 21의 원본 Event와 Rule 100110 Alert 상세</a:t>
            </a:r>
          </a:p>
        </p:txBody>
      </p:sp>
      <p:sp>
        <p:nvSpPr>
          <p:cNvPr id="9" name="summary">
            <a:extLst xmlns:a="http://schemas.openxmlformats.org/drawingml/2006/main">
              <a:ext uri="{FF2B5EF4-FFF2-40B4-BE49-F238E27FC236}">
                <a16:creationId xmlns:a16="http://schemas.microsoft.com/office/drawing/2014/main" id="{DDA45CC1-A236-4FBB-980D-98AC46A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6419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Runtime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원본 Event의 안전한 분류 필드가 Rule 100110의 모든 조건과 일치했고, 동일 event_id를 가진 Level 12 Alert가 생성되었다.</a:t>
            </a:r>
          </a:p>
        </p:txBody>
      </p:sp>
      <p:sp>
        <p:nvSpPr>
          <p:cNvPr id="10" name="runtime-100110-redaction">
            <a:extLst xmlns:a="http://schemas.openxmlformats.org/drawingml/2006/main">
              <a:ext uri="{FF2B5EF4-FFF2-40B4-BE49-F238E27FC236}">
                <a16:creationId xmlns:a16="http://schemas.microsoft.com/office/drawing/2014/main" id="{1D3F6D42-4BD4-4102-8221-1D6E2CD9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D2B4F"/>
                </a:solidFill>
              </a:defRPr>
            </a:pPr>
            <a:r>
              <a:rPr sz="975" b="0">
                <a:solidFill>
                  <a:srgbClr val="0D2B4F"/>
                </a:solidFill>
              </a:rPr>
              <a:t>공개 화면에서는 Account, Credential, Cookie, 원문 Command와 응답을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9815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89919528-B388-4D58-BFB8-697E3F5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09CBDC16-83CD-4E67-A501-09676013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60508EE-1EF8-44D8-9FFE-AAAC6D73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5.1.9 Rule 100111 Runtime Alert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913FE9-2DFF-4A51-A3B3-145A77C7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00EA6D-4F8B-42D3-9D59-77142A29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4A9B8-F8AD-47CE-BFDB-046874C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Dashboard Panel 22에서 CloudTrail 원본 Event와 Alert를 동일 eventID로 대조한다.</a:t>
            </a:r>
          </a:p>
        </p:txBody>
      </p:sp>
      <p:sp>
        <p:nvSpPr>
          <p:cNvPr id="7" name="placeholder-6">
            <a:extLst xmlns:a="http://schemas.openxmlformats.org/drawingml/2006/main">
              <a:ext uri="{FF2B5EF4-FFF2-40B4-BE49-F238E27FC236}">
                <a16:creationId xmlns:a16="http://schemas.microsoft.com/office/drawing/2014/main" id="{B84CF1B5-7C88-4A8D-BB0B-78F9633B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6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Panel 22의 CloudTrail Event와 Rule 100111 Alert 상세</a:t>
            </a:r>
          </a:p>
        </p:txBody>
      </p:sp>
      <p:sp>
        <p:nvSpPr>
          <p:cNvPr id="8" name="runtime-100111-fields">
            <a:extLst xmlns:a="http://schemas.openxmlformats.org/drawingml/2006/main">
              <a:ext uri="{FF2B5EF4-FFF2-40B4-BE49-F238E27FC236}">
                <a16:creationId xmlns:a16="http://schemas.microsoft.com/office/drawing/2014/main" id="{F7F27C36-F213-4A61-A42A-D80FB3FB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2724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대조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동일한 CloudTrail eventID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eventName = GetObject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승인된 AssumedRole과 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httpStatusCode = 200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bytesTransferredOut &gt; 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rule.id = 100111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rule.level = 14</a:t>
            </a:r>
          </a:p>
        </p:txBody>
      </p:sp>
      <p:sp>
        <p:nvSpPr>
          <p:cNvPr id="9" name="summary">
            <a:extLst xmlns:a="http://schemas.openxmlformats.org/drawingml/2006/main">
              <a:ext uri="{FF2B5EF4-FFF2-40B4-BE49-F238E27FC236}">
                <a16:creationId xmlns:a16="http://schemas.microsoft.com/office/drawing/2014/main" id="{7839AF7B-35E9-42E9-BC0E-59FF3CF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6419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Runtime 판정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원본 CloudTrail Event가 Rule 100111의 모든 조건과 일치했고, 동일 eventID를 가진 Level 14 Alert가 생성되었다.</a:t>
            </a:r>
          </a:p>
        </p:txBody>
      </p:sp>
      <p:sp>
        <p:nvSpPr>
          <p:cNvPr id="10" name="runtime-100111-scope">
            <a:extLst xmlns:a="http://schemas.openxmlformats.org/drawingml/2006/main">
              <a:ext uri="{FF2B5EF4-FFF2-40B4-BE49-F238E27FC236}">
                <a16:creationId xmlns:a16="http://schemas.microsoft.com/office/drawing/2014/main" id="{E01BC569-4DA4-4A53-A856-804CE1F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D2B4F"/>
                </a:solidFill>
              </a:defRPr>
            </a:pPr>
            <a:r>
              <a:rPr sz="975" b="0">
                <a:solidFill>
                  <a:srgbClr val="0D2B4F"/>
                </a:solidFill>
              </a:rPr>
              <a:t>판정 범위는 고정 검증용 S3 Object의 실제 Byte 반환이다. S3 전체 유출로 확대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3139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17E4EF6D-27A6-4077-B2BF-BE4C634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B6F4F5E3-3FCB-4E30-A1AE-31E917F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C4AEC1B-2510-49AE-AB25-1C58FFC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0"/>
                </a:solidFill>
              </a:defRPr>
            </a:pPr>
            <a:r>
              <a:rPr sz="1800" b="1">
                <a:solidFill>
                  <a:srgbClr val="182230"/>
                </a:solidFill>
              </a:rPr>
              <a:t>5.1.10 종합 판정과 해석 한계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22C5DD-FC21-4D6B-B0A2-2067D4C0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06A909-2D8E-4FCC-AEF1-226AF3A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7CF2D-F157-44A5-82FE-C98793B4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중앙 관제 화면은 탐지 결과뿐 아니라 Alert가 생성된 근거를 한 흐름으로 보여준다.</a:t>
            </a:r>
          </a:p>
        </p:txBody>
      </p:sp>
      <p:sp>
        <p:nvSpPr>
          <p:cNvPr id="7" name="evidence-chain">
            <a:extLst xmlns:a="http://schemas.openxmlformats.org/drawingml/2006/main">
              <a:ext uri="{FF2B5EF4-FFF2-40B4-BE49-F238E27FC236}">
                <a16:creationId xmlns:a16="http://schemas.microsoft.com/office/drawing/2014/main" id="{A12CC9CF-0CB4-482F-8CAB-F8ACDD30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원본 Event  →  주요 필드 구조화  →  Rule 조건 일치  →  Alert 생성  →  Dashboard 조사</a:t>
            </a:r>
          </a:p>
        </p:txBody>
      </p:sp>
      <p:sp>
        <p:nvSpPr>
          <p:cNvPr id="8" name="final-results">
            <a:extLst xmlns:a="http://schemas.openxmlformats.org/drawingml/2006/main">
              <a:ext uri="{FF2B5EF4-FFF2-40B4-BE49-F238E27FC236}">
                <a16:creationId xmlns:a16="http://schemas.microsoft.com/office/drawing/2014/main" id="{25EEB493-1F12-4B63-A0F1-2C9DB05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64198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검증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분산된 DVWA·CloudTrail Event를 Wazuh에서 중앙 조회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Rule 100110: Positive 1 / Negative 8 / Duplicate 0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Rule 100111: Positive 1 / Negative 15 / Duplicate 0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원본 식별자와 Runtime Alert의 일대일 연결 확인</a:t>
            </a:r>
          </a:p>
        </p:txBody>
      </p:sp>
      <p:sp>
        <p:nvSpPr>
          <p:cNvPr id="9" name="final-limit">
            <a:extLst xmlns:a="http://schemas.openxmlformats.org/drawingml/2006/main">
              <a:ext uri="{FF2B5EF4-FFF2-40B4-BE49-F238E27FC236}">
                <a16:creationId xmlns:a16="http://schemas.microsoft.com/office/drawing/2014/main" id="{F1E9BB16-891D-4674-AAD4-A9295B4A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641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Rule 100110과 Rule 100111은 독립적으로 발생한다. Dashboard가 공격 인과관계를 자동 계산한 것은 아니며, 관제자가 Event 시각, 식별자, 실행 주체와 대상 Object를 비교해 동일 공격 흐름으로 조사하였다.</a:t>
            </a:r>
          </a:p>
        </p:txBody>
      </p:sp>
      <p:sp>
        <p:nvSpPr>
          <p:cNvPr id="10" name="final-verdict">
            <a:extLst xmlns:a="http://schemas.openxmlformats.org/drawingml/2006/main">
              <a:ext uri="{FF2B5EF4-FFF2-40B4-BE49-F238E27FC236}">
                <a16:creationId xmlns:a16="http://schemas.microsoft.com/office/drawing/2014/main" id="{549C6952-3EA3-4DE0-99AD-CCFA84B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0"/>
            <a:ext cx="641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D2B4F"/>
                </a:solidFill>
              </a:defRPr>
            </a:pPr>
            <a:r>
              <a:rPr sz="1200" b="1">
                <a:solidFill>
                  <a:srgbClr val="0D2B4F"/>
                </a:solidFill>
              </a:rPr>
              <a:t>최종 판정: Wazuh 중앙 관제 화면에서 원본 Event → Rule 조건 일치 → Alert 생성 → 사건 조사 흐름을 검증하였다.</a:t>
            </a:r>
          </a:p>
        </p:txBody>
      </p:sp>
    </p:spTree>
    <p:extLst>
      <p:ext uri="{BB962C8B-B14F-4D97-AF65-F5344CB8AC3E}">
        <p14:creationId xmlns:p14="http://schemas.microsoft.com/office/powerpoint/2010/main" val="1943610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2026-08-24T11:40:58.6600000Z</dcterms:created>
  <dcterms:modified xsi:type="dcterms:W3CDTF">2026-08-24T11:40:58.6600000Z</dcterms:modified>
</coreProperties>
</file>